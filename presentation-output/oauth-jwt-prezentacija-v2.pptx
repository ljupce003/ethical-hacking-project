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cc4275ecd3d4673" /><Relationship Type="http://schemas.openxmlformats.org/officeDocument/2006/relationships/extended-properties" Target="/docProps/app.xml" Id="R0f3e782421f84014" /><Relationship Type="http://schemas.openxmlformats.org/officeDocument/2006/relationships/officeDocument" Target="/ppt/presentation.xml" Id="R3ba5f31c1b8e47c7" /></Relationships>
</file>

<file path=ppt/presentation.xml><?xml version="1.0" encoding="utf-8"?>
<p:presentation xmlns:p="http://schemas.openxmlformats.org/presentationml/2006/main">
  <p:sldMasterIdLst>
    <p:sldMasterId xmlns:r="http://schemas.openxmlformats.org/officeDocument/2006/relationships" id="2147483648" r:id="R77f94cce74b44b97"/>
  </p:sldMasterIdLst>
  <p:notesMasterIdLst>
    <p:notesMasterId xmlns:r="http://schemas.openxmlformats.org/officeDocument/2006/relationships" r:id="Rda939d81d21244d7"/>
  </p:notesMasterIdLst>
  <p:sldIdLst>
    <p:sldId xmlns:r="http://schemas.openxmlformats.org/officeDocument/2006/relationships" id="256" r:id="R4edc3700719742ec"/>
    <p:sldId xmlns:r="http://schemas.openxmlformats.org/officeDocument/2006/relationships" id="257" r:id="R063070f2615a4770"/>
    <p:sldId xmlns:r="http://schemas.openxmlformats.org/officeDocument/2006/relationships" id="258" r:id="Rb231c5c3f80a44d6"/>
    <p:sldId xmlns:r="http://schemas.openxmlformats.org/officeDocument/2006/relationships" id="259" r:id="R6391b3cb05694fb3"/>
    <p:sldId xmlns:r="http://schemas.openxmlformats.org/officeDocument/2006/relationships" id="260" r:id="R9548617274654d28"/>
    <p:sldId xmlns:r="http://schemas.openxmlformats.org/officeDocument/2006/relationships" id="261" r:id="R0e5a1c7059324745"/>
    <p:sldId xmlns:r="http://schemas.openxmlformats.org/officeDocument/2006/relationships" id="262" r:id="R67a17e3f0e9b47a4"/>
    <p:sldId xmlns:r="http://schemas.openxmlformats.org/officeDocument/2006/relationships" id="263" r:id="R688ec4fcdb6d4745"/>
    <p:sldId xmlns:r="http://schemas.openxmlformats.org/officeDocument/2006/relationships" id="264" r:id="Ra5502c4e43d94a9e"/>
    <p:sldId xmlns:r="http://schemas.openxmlformats.org/officeDocument/2006/relationships" id="265" r:id="R9f7b1d9bdfe44bf0"/>
    <p:sldId xmlns:r="http://schemas.openxmlformats.org/officeDocument/2006/relationships" id="266" r:id="R21b10617463141d2"/>
    <p:sldId xmlns:r="http://schemas.openxmlformats.org/officeDocument/2006/relationships" id="267" r:id="R7e60fd810ec24e8a"/>
    <p:sldId xmlns:r="http://schemas.openxmlformats.org/officeDocument/2006/relationships" id="268" r:id="Ra52e0bd572734a12"/>
    <p:sldId xmlns:r="http://schemas.openxmlformats.org/officeDocument/2006/relationships" id="269" r:id="R746f6607e0114bd8"/>
    <p:sldId xmlns:r="http://schemas.openxmlformats.org/officeDocument/2006/relationships" id="270" r:id="R82a73b509ba4446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bb4bb529d6544bf" /><Relationship Type="http://schemas.openxmlformats.org/officeDocument/2006/relationships/slideMaster" Target="/ppt/slideMasters/slideMaster1.xml" Id="R77f94cce74b44b97" /><Relationship Type="http://schemas.openxmlformats.org/officeDocument/2006/relationships/notesMaster" Target="/ppt/notesMasters/notesMaster1.xml" Id="Rda939d81d21244d7" /><Relationship Type="http://schemas.openxmlformats.org/officeDocument/2006/relationships/presProps" Target="/ppt/presProps.xml" Id="Ra9f5f8772ba541d5" /><Relationship Type="http://schemas.openxmlformats.org/officeDocument/2006/relationships/tableStyles" Target="/ppt/tableStyles.xml" Id="Rf6a74a3984634b20" /><Relationship Type="http://schemas.openxmlformats.org/officeDocument/2006/relationships/slide" Target="/ppt/slides/slide1.xml" Id="R4edc3700719742ec" /><Relationship Type="http://schemas.openxmlformats.org/officeDocument/2006/relationships/slide" Target="/ppt/slides/slide2.xml" Id="R063070f2615a4770" /><Relationship Type="http://schemas.openxmlformats.org/officeDocument/2006/relationships/slide" Target="/ppt/slides/slide3.xml" Id="Rb231c5c3f80a44d6" /><Relationship Type="http://schemas.openxmlformats.org/officeDocument/2006/relationships/slide" Target="/ppt/slides/slide4.xml" Id="R6391b3cb05694fb3" /><Relationship Type="http://schemas.openxmlformats.org/officeDocument/2006/relationships/slide" Target="/ppt/slides/slide5.xml" Id="R9548617274654d28" /><Relationship Type="http://schemas.openxmlformats.org/officeDocument/2006/relationships/slide" Target="/ppt/slides/slide6.xml" Id="R0e5a1c7059324745" /><Relationship Type="http://schemas.openxmlformats.org/officeDocument/2006/relationships/slide" Target="/ppt/slides/slide7.xml" Id="R67a17e3f0e9b47a4" /><Relationship Type="http://schemas.openxmlformats.org/officeDocument/2006/relationships/slide" Target="/ppt/slides/slide8.xml" Id="R688ec4fcdb6d4745" /><Relationship Type="http://schemas.openxmlformats.org/officeDocument/2006/relationships/slide" Target="/ppt/slides/slide9.xml" Id="Ra5502c4e43d94a9e" /><Relationship Type="http://schemas.openxmlformats.org/officeDocument/2006/relationships/slide" Target="/ppt/slides/slide10.xml" Id="R9f7b1d9bdfe44bf0" /><Relationship Type="http://schemas.openxmlformats.org/officeDocument/2006/relationships/slide" Target="/ppt/slides/slide11.xml" Id="R21b10617463141d2" /><Relationship Type="http://schemas.openxmlformats.org/officeDocument/2006/relationships/slide" Target="/ppt/slides/slide12.xml" Id="R7e60fd810ec24e8a" /><Relationship Type="http://schemas.openxmlformats.org/officeDocument/2006/relationships/slide" Target="/ppt/slides/slide13.xml" Id="Ra52e0bd572734a12" /><Relationship Type="http://schemas.openxmlformats.org/officeDocument/2006/relationships/slide" Target="/ppt/slides/slide14.xml" Id="R746f6607e0114bd8" /><Relationship Type="http://schemas.openxmlformats.org/officeDocument/2006/relationships/slide" Target="/ppt/slides/slide15.xml" Id="R82a73b509ba4446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1dd0605653f417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096fdec16864822" /><Relationship Type="http://schemas.openxmlformats.org/officeDocument/2006/relationships/notesMaster" Target="/ppt/notesMasters/notesMaster1.xml" Id="Rc648b30bf9f54ad2" /></Relationships>
</file>

<file path=ppt/notesSlides/_rels/notesSlide2.xml.rels>&#65279;<?xml version="1.0" encoding="utf-8"?><Relationships xmlns="http://schemas.openxmlformats.org/package/2006/relationships"><Relationship Type="http://schemas.openxmlformats.org/officeDocument/2006/relationships/slide" Target="/ppt/slides/slide2.xml" Id="Red40b4f290964f13" /><Relationship Type="http://schemas.openxmlformats.org/officeDocument/2006/relationships/notesMaster" Target="/ppt/notesMasters/notesMaster1.xml" Id="R2e43bbe747ae49c2" /></Relationships>
</file>

<file path=ppt/notesSlides/_rels/notesSlide3.xml.rels>&#65279;<?xml version="1.0" encoding="utf-8"?><Relationships xmlns="http://schemas.openxmlformats.org/package/2006/relationships"><Relationship Type="http://schemas.openxmlformats.org/officeDocument/2006/relationships/slide" Target="/ppt/slides/slide3.xml" Id="R9b5c731ec5704282" /><Relationship Type="http://schemas.openxmlformats.org/officeDocument/2006/relationships/notesMaster" Target="/ppt/notesMasters/notesMaster1.xml" Id="Re3f14c2a4bb9427b" /></Relationships>
</file>

<file path=ppt/notesSlides/_rels/notesSlide4.xml.rels>&#65279;<?xml version="1.0" encoding="utf-8"?><Relationships xmlns="http://schemas.openxmlformats.org/package/2006/relationships"><Relationship Type="http://schemas.openxmlformats.org/officeDocument/2006/relationships/slide" Target="/ppt/slides/slide4.xml" Id="Reb447b84a0e240d5" /><Relationship Type="http://schemas.openxmlformats.org/officeDocument/2006/relationships/notesMaster" Target="/ppt/notesMasters/notesMaster1.xml" Id="R6577f447c029451a" /></Relationships>
</file>

<file path=ppt/notesSlides/_rels/notesSlide5.xml.rels>&#65279;<?xml version="1.0" encoding="utf-8"?><Relationships xmlns="http://schemas.openxmlformats.org/package/2006/relationships"><Relationship Type="http://schemas.openxmlformats.org/officeDocument/2006/relationships/slide" Target="/ppt/slides/slide5.xml" Id="R870a288285e24b7b" /><Relationship Type="http://schemas.openxmlformats.org/officeDocument/2006/relationships/notesMaster" Target="/ppt/notesMasters/notesMaster1.xml" Id="Rb234ab98e9544502" /></Relationships>
</file>

<file path=ppt/notesSlides/_rels/notesSlide6.xml.rels>&#65279;<?xml version="1.0" encoding="utf-8"?><Relationships xmlns="http://schemas.openxmlformats.org/package/2006/relationships"><Relationship Type="http://schemas.openxmlformats.org/officeDocument/2006/relationships/slide" Target="/ppt/slides/slide6.xml" Id="Rd7fbfb63ebff45ba" /><Relationship Type="http://schemas.openxmlformats.org/officeDocument/2006/relationships/notesMaster" Target="/ppt/notesMasters/notesMaster1.xml" Id="Rdf7ff34cdcbd4696" /></Relationships>
</file>

<file path=ppt/notesSlides/_rels/notesSlide7.xml.rels>&#65279;<?xml version="1.0" encoding="utf-8"?><Relationships xmlns="http://schemas.openxmlformats.org/package/2006/relationships"><Relationship Type="http://schemas.openxmlformats.org/officeDocument/2006/relationships/slide" Target="/ppt/slides/slide7.xml" Id="R15715163e7f04531" /><Relationship Type="http://schemas.openxmlformats.org/officeDocument/2006/relationships/notesMaster" Target="/ppt/notesMasters/notesMaster1.xml" Id="Ra8322bf873024860" /></Relationships>
</file>

<file path=ppt/notesSlides/_rels/notesSlide8.xml.rels>&#65279;<?xml version="1.0" encoding="utf-8"?><Relationships xmlns="http://schemas.openxmlformats.org/package/2006/relationships"><Relationship Type="http://schemas.openxmlformats.org/officeDocument/2006/relationships/slide" Target="/ppt/slides/slide8.xml" Id="Rb012f8a040664948" /><Relationship Type="http://schemas.openxmlformats.org/officeDocument/2006/relationships/notesMaster" Target="/ppt/notesMasters/notesMaster1.xml" Id="Ra185cbe4451643c9" /></Relationships>
</file>

<file path=ppt/notesSlides/_rels/notesSlide9.xml.rels>&#65279;<?xml version="1.0" encoding="utf-8"?><Relationships xmlns="http://schemas.openxmlformats.org/package/2006/relationships"><Relationship Type="http://schemas.openxmlformats.org/officeDocument/2006/relationships/slide" Target="/ppt/slides/slide9.xml" Id="R3d08b54fd257446c" /><Relationship Type="http://schemas.openxmlformats.org/officeDocument/2006/relationships/notesMaster" Target="/ppt/notesMasters/notesMaster1.xml" Id="Rdb026bb96493411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fc654428c284a0b" /><Relationship Type="http://schemas.openxmlformats.org/officeDocument/2006/relationships/notesMaster" Target="/ppt/notesMasters/notesMaster1.xml" Id="R0839af129a9a47a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06d2e32c9894c5b" /><Relationship Type="http://schemas.openxmlformats.org/officeDocument/2006/relationships/notesMaster" Target="/ppt/notesMasters/notesMaster1.xml" Id="R4c442c692de348a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758156284ca45aa" /><Relationship Type="http://schemas.openxmlformats.org/officeDocument/2006/relationships/notesMaster" Target="/ppt/notesMasters/notesMaster1.xml" Id="R0c7431e09a9145f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990678b2bd74d98" /><Relationship Type="http://schemas.openxmlformats.org/officeDocument/2006/relationships/notesMaster" Target="/ppt/notesMasters/notesMaster1.xml" Id="Rb7c5ac88e12c439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32c1a865a054c2d" /><Relationship Type="http://schemas.openxmlformats.org/officeDocument/2006/relationships/notesMaster" Target="/ppt/notesMasters/notesMaster1.xml" Id="Ra7516db505184b0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dbe7d2646964304" /><Relationship Type="http://schemas.openxmlformats.org/officeDocument/2006/relationships/notesMaster" Target="/ppt/notesMasters/notesMaster1.xml" Id="R387b2d11d9624d3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Говорник 1 | 0:15</a:t>
            </a:r>
          </a:p>
          <a:p xmlns:a="http://schemas.openxmlformats.org/drawingml/2006/main">
            <a:r>
              <a:t/>
            </a:r>
          </a:p>
          <a:p xmlns:a="http://schemas.openxmlformats.org/drawingml/2006/main">
            <a:r>
              <a:t>Ќе покажеме четири пропусти во две локални лаборатории. Прво ќе го видиме OAuth Login CSRF, а потоа три грешки при проверка на JWT. Во презентацијата се задржуваме на тоа како се случуваат нападите, што добивме во тестот и како се спречуваат. Деталните команди и код се во елаборатот.</a:t>
            </a:r>
          </a:p>
          <a:p xmlns:a="http://schemas.openxmlformats.org/drawingml/2006/main">
            <a:r>
              <a:t/>
            </a:r>
          </a:p>
          <a:p xmlns:a="http://schemas.openxmlformats.org/drawingml/2006/main">
            <a:r>
              <a:t>Извори: Елаборат, апстракт и заклучок.</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Говорник 1 | 0:25</a:t>
            </a:r>
          </a:p>
          <a:p xmlns:a="http://schemas.openxmlformats.org/drawingml/2006/main">
            <a:r>
              <a:t/>
            </a:r>
          </a:p>
          <a:p xmlns:a="http://schemas.openxmlformats.org/drawingml/2006/main">
            <a:r>
              <a:t>OAuth 2.0 му дава на клиентот ограничен пристап до ресурс без да ја земе лозинката на корисникот. OpenID Connect додава стандардизиран одговор за идентитетот при најава. JWT е формат на токен, а не посебен протокол за најава. Оваа разлика ни помага да видиме дека OAuth и JWT пропустите се на различни места во процесот.</a:t>
            </a:r>
          </a:p>
          <a:p xmlns:a="http://schemas.openxmlformats.org/drawingml/2006/main">
            <a:r>
              <a:t/>
            </a:r>
          </a:p>
          <a:p xmlns:a="http://schemas.openxmlformats.org/drawingml/2006/main">
            <a:r>
              <a:t>Извори: RFC 6749: https://www.rfc-editor.org/rfc/rfc6749.html | OpenID Connect Core: https://openid.net/specs/openid-connect-core-1_0.html | RFC 7519: https://www.rfc-editor.org/rfc/rfc7519.html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Говорник 1 | 0:40</a:t>
            </a:r>
          </a:p>
          <a:p xmlns:a="http://schemas.openxmlformats.org/drawingml/2006/main">
            <a:r>
              <a:t/>
            </a:r>
          </a:p>
          <a:p xmlns:a="http://schemas.openxmlformats.org/drawingml/2006/main">
            <a:r>
              <a:t>Клиентот го пренасочува прелистувачот до провајдерот со client_id, redirect_uri, побараните дозволи и state. По најавата, провајдерот го враќа прелистувачот со краткотраен authorization code и истата state вредност. Клиентот прво ја проверува state вредноста, па дури потоа го менува code-от за токени преку директно серверско барање. Токените не треба да патуваат како дел од првото пренасочување.</a:t>
            </a:r>
          </a:p>
          <a:p xmlns:a="http://schemas.openxmlformats.org/drawingml/2006/main">
            <a:r>
              <a:t/>
            </a:r>
          </a:p>
          <a:p xmlns:a="http://schemas.openxmlformats.org/drawingml/2006/main">
            <a:r>
              <a:t>Извори: RFC 6749: https://www.rfc-editor.org/rfc/rfc6749.html | RFC 9700: https://www.rfc-editor.org/rfc/rfc9700.html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Говорник 1 | 0:35</a:t>
            </a:r>
          </a:p>
          <a:p xmlns:a="http://schemas.openxmlformats.org/drawingml/2006/main">
            <a:r>
              <a:t/>
            </a:r>
          </a:p>
          <a:p xmlns:a="http://schemas.openxmlformats.org/drawingml/2006/main">
            <a:r>
              <a:t>Проблемот не е што authorization code е невалиден. Тој е валиден, но е издаден во процес што го започнал напаѓачот. Ако клиентот гледа само дали callback URL-от има code и не проверува дали истата browser сесија го започнала барањето, туѓиот одговор може да се прифати кај жртвата. Тогаш локалната сесија се врзува за сметката на напаѓачот.</a:t>
            </a:r>
          </a:p>
          <a:p xmlns:a="http://schemas.openxmlformats.org/drawingml/2006/main">
            <a:r>
              <a:t/>
            </a:r>
          </a:p>
          <a:p xmlns:a="http://schemas.openxmlformats.org/drawingml/2006/main">
            <a:r>
              <a:t>Извори: RFC 9700, секција 4.7: https://www.rfc-editor.org/rfc/rfc9700.html#section-4.7 | Елаборат, секција 2.1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Говорник 1 | 0:35</a:t>
            </a:r>
          </a:p>
          <a:p xmlns:a="http://schemas.openxmlformats.org/drawingml/2006/main">
            <a:r>
              <a:t/>
            </a:r>
          </a:p>
          <a:p xmlns:a="http://schemas.openxmlformats.org/drawingml/2006/main">
            <a:r>
              <a:t>Имаме три локални сервиси. LabID на портата 9000 го игра провајдерот. OAuth Notes Client на 8000 има ранлив и заштитен callback. Attacker Site на 7000 ја доставува врската. Напаѓачот работи во нормален прозорец, а жртвата во приватен прозорец за да не делат сесија. Сервисите се објавени само на loopback интерфејсот и не користат вистински сметки.</a:t>
            </a:r>
          </a:p>
          <a:p xmlns:a="http://schemas.openxmlformats.org/drawingml/2006/main">
            <a:r>
              <a:t/>
            </a:r>
          </a:p>
          <a:p xmlns:a="http://schemas.openxmlformats.org/drawingml/2006/main">
            <a:r>
              <a:t>Извори: Елаборат, секции 2.2–2.4 | lab/oauth-csrf/compose.yaml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Говорник 1 | 0:40</a:t>
            </a:r>
          </a:p>
          <a:p xmlns:a="http://schemas.openxmlformats.org/drawingml/2006/main">
            <a:r>
              <a:t/>
            </a:r>
          </a:p>
          <a:p xmlns:a="http://schemas.openxmlformats.org/drawingml/2006/main">
            <a:r>
              <a:t>Напаѓачот ја започнува ранливата OAuth најава и кај LabID избира сопствена сметка. Lab capture му го прикажува callback URL-от со code, без да го потроши. Attacker Site од тоа создава exploit врска. Кога ја отвораме врската во приватниот прозорец на жртвата, клиентот го прифаќа code-от. Жртвата гледа активна сесија, но корисник е Алекс Напаѓач.</a:t>
            </a:r>
          </a:p>
          <a:p xmlns:a="http://schemas.openxmlformats.org/drawingml/2006/main">
            <a:r>
              <a:t/>
            </a:r>
          </a:p>
          <a:p xmlns:a="http://schemas.openxmlformats.org/drawingml/2006/main">
            <a:r>
              <a:t>Извори: Елаборат, секција 2.7 | lab/oauth-csrf/README.md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Говорник 1 | 0:40</a:t>
            </a:r>
          </a:p>
          <a:p xmlns:a="http://schemas.openxmlformats.org/drawingml/2006/main">
            <a:r>
              <a:t/>
            </a:r>
          </a:p>
          <a:p xmlns:a="http://schemas.openxmlformats.org/drawingml/2006/main">
            <a:r>
              <a:t>Во ранливата варијанта callback-от заврши успешно и апликацијата прикажа Алекс Напаѓач. Во приватниот прозорец внесовме белешка што потоа можеше да се прочита од сметката на напаѓачот. Истиот напад врз заштитениот callback заврши со HTTP 403. Значи овде не покажуваме кражба на сметката на жртвата, туку внесување нејзин податок во сметка што ја контролира напаѓачот.</a:t>
            </a:r>
          </a:p>
          <a:p xmlns:a="http://schemas.openxmlformats.org/drawingml/2006/main">
            <a:r>
              <a:t/>
            </a:r>
          </a:p>
          <a:p xmlns:a="http://schemas.openxmlformats.org/drawingml/2006/main">
            <a:r>
              <a:t>Извори: Елаборат, секции 2.7–2.9 | lab/oauth-csrf/test-lab.js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Говорник 1 | 0:30</a:t>
            </a:r>
          </a:p>
          <a:p xmlns:a="http://schemas.openxmlformats.org/drawingml/2006/main">
            <a:r>
              <a:t/>
            </a:r>
          </a:p>
          <a:p xmlns:a="http://schemas.openxmlformats.org/drawingml/2006/main">
            <a:r>
              <a:t>Клиентот создава случајна state вредност и ја врзува за browser сесијата што ја започнала најавата. Во callback мора да пристигне истата вредност. Ако недостасува или не се совпаѓа, одговорот се одбива пред размената на code. Во реален систем се користи Authorization Code со PKCE; RFC 9700 дозволува правилно имплементиран PKCE како CSRF заштита кога поддршката на провајдерот е потврдена. Со тоа го завршувам OAuth делот.</a:t>
            </a:r>
          </a:p>
          <a:p xmlns:a="http://schemas.openxmlformats.org/drawingml/2006/main">
            <a:r>
              <a:t/>
            </a:r>
          </a:p>
          <a:p xmlns:a="http://schemas.openxmlformats.org/drawingml/2006/main">
            <a:r>
              <a:t>Извори: RFC 9700, секција 4.7.1: https://www.rfc-editor.org/rfc/rfc9700.html#section-4.7.1 | Елаборат, секција 2.9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Говорник 2 | 0:35</a:t>
            </a:r>
          </a:p>
          <a:p xmlns:a="http://schemas.openxmlformats.org/drawingml/2006/main">
            <a:r>
              <a:t/>
            </a:r>
          </a:p>
          <a:p xmlns:a="http://schemas.openxmlformats.org/drawingml/2006/main">
            <a:r>
              <a:t>JWT токенот има header, payload и signature. Header и payload се Base64URL енкодирани, па можат да се прочитаат; тоа не е шифрирање. Потписот е делот што овозможува проверка на интегритетот и издавачот преку очекуваниот клуч. Серверот мора однапред да знае кој алгоритам и кој клуч ги очекува. Во лабораторијата го нарушуваме токму ова правило.</a:t>
            </a:r>
          </a:p>
          <a:p xmlns:a="http://schemas.openxmlformats.org/drawingml/2006/main">
            <a:r>
              <a:t/>
            </a:r>
          </a:p>
          <a:p xmlns:a="http://schemas.openxmlformats.org/drawingml/2006/main">
            <a:r>
              <a:t>Извори: RFC 7519: https://www.rfc-editor.org/rfc/rfc7519.html | RFC 8725: https://www.rfc-editor.org/rfc/rfc8725.html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Говорник 2 | 0:40</a:t>
            </a:r>
          </a:p>
          <a:p xmlns:a="http://schemas.openxmlformats.org/drawingml/2006/main">
            <a:r>
              <a:t/>
            </a:r>
          </a:p>
          <a:p xmlns:a="http://schemas.openxmlformats.org/drawingml/2006/main">
            <a:r>
              <a:t>Напаѓачот прави токен чиј header вели alg none и чиј payload содржи role admin. Третиот дел, потписот, е празен. Намерно ранливиот валидатор го чита alg и го враќа payload-от без никаква криптографска проверка. Рутата /admin го прифаќа токенот со HTTP 200. Рутата што однапред бара HS256 го одбива со HTTP 401. Во современа имплементација алгоритмот треба експлицитно да е ограничен.</a:t>
            </a:r>
          </a:p>
          <a:p xmlns:a="http://schemas.openxmlformats.org/drawingml/2006/main">
            <a:r>
              <a:t/>
            </a:r>
          </a:p>
          <a:p xmlns:a="http://schemas.openxmlformats.org/drawingml/2006/main">
            <a:r>
              <a:t>Извори: RFC 8725, секции 2.1 и 3.1: https://www.rfc-editor.org/rfc/rfc8725.html | lab/jwt/app.js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Говорник 2 | 0:40</a:t>
            </a:r>
          </a:p>
          <a:p xmlns:a="http://schemas.openxmlformats.org/drawingml/2006/main">
            <a:r>
              <a:t/>
            </a:r>
          </a:p>
          <a:p xmlns:a="http://schemas.openxmlformats.org/drawingml/2006/main">
            <a:r>
              <a:t>Кај HS256 истиот таен клуч се користи за потпишување и проверка. Нашата лабораторија намерно користи secret123. Скриптата најпрво зема валиден токен за обичен корисник, потоа локално пробува шест кандидати и ја наоѓа тајната на четвртиот. Со неа потпишува нов admin токен. Дури и рутата со фиксен HS256 алгоритам го прифаќа, бидејќи потписот е математички валиден. Рутата со силен случаен клуч го одбива.</a:t>
            </a:r>
          </a:p>
          <a:p xmlns:a="http://schemas.openxmlformats.org/drawingml/2006/main">
            <a:r>
              <a:t/>
            </a:r>
          </a:p>
          <a:p xmlns:a="http://schemas.openxmlformats.org/drawingml/2006/main">
            <a:r>
              <a:t>Извори: RFC 8725, секции 2.2 и 3.5: https://www.rfc-editor.org/rfc/rfc8725.html | lab/jwt/attacks.py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Говорник 2 | 0:40</a:t>
            </a:r>
          </a:p>
          <a:p xmlns:a="http://schemas.openxmlformats.org/drawingml/2006/main">
            <a:r>
              <a:t/>
            </a:r>
          </a:p>
          <a:p xmlns:a="http://schemas.openxmlformats.org/drawingml/2006/main">
            <a:r>
              <a:t>Кај RS256 издавачот потпишува со приватен RSA клуч, а серверот проверува со јавниот. Јавниот клуч нормално е достапен. Грешката е што ранливиот валидатор дозволува токенот да побара HS256 и тогаш го користи јавниот RSA клуч како HMAC тајна. Напаѓачот го има јавниот клуч и може да потпише свој admin токен. Ранливата рута враќа 200, а рутата што бара само RS256 враќа 401.</a:t>
            </a:r>
          </a:p>
          <a:p xmlns:a="http://schemas.openxmlformats.org/drawingml/2006/main">
            <a:r>
              <a:t/>
            </a:r>
          </a:p>
          <a:p xmlns:a="http://schemas.openxmlformats.org/drawingml/2006/main">
            <a:r>
              <a:t>Извори: RFC 8725, секција 2.1: https://www.rfc-editor.org/rfc/rfc8725.html#section-2.1 | lab/jwt/app.js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Говорник 2 | 0:50</a:t>
            </a:r>
          </a:p>
          <a:p xmlns:a="http://schemas.openxmlformats.org/drawingml/2006/main">
            <a:r>
              <a:t/>
            </a:r>
          </a:p>
          <a:p xmlns:a="http://schemas.openxmlformats.org/drawingml/2006/main">
            <a:r>
              <a:t>Во сите три сценарија намерно ранливите проверки прифатија фалсификуван admin токен. Но поправката е различна. За alg none и за мешањето RS256 со HS256 треба строга дозволена листа на алгоритми и точен тип на клуч. За слабата тајна тоа не е доволно: треба криптографски случаен HMAC клуч. Затоа ги тестиравме ранливите и споредбените рути со истиот токен и ги споредивме статусите 200 и 401.</a:t>
            </a:r>
          </a:p>
          <a:p xmlns:a="http://schemas.openxmlformats.org/drawingml/2006/main">
            <a:r>
              <a:t/>
            </a:r>
          </a:p>
          <a:p xmlns:a="http://schemas.openxmlformats.org/drawingml/2006/main">
            <a:r>
              <a:t>Извори: Елаборат, секции 4.3–4.6 | lab/jwt/attacks.py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Говорник 2 | 0:35</a:t>
            </a:r>
          </a:p>
          <a:p xmlns:a="http://schemas.openxmlformats.org/drawingml/2006/main">
            <a:r>
              <a:t/>
            </a:r>
          </a:p>
          <a:p xmlns:a="http://schemas.openxmlformats.org/drawingml/2006/main">
            <a:r>
              <a:t>Во продукциски систем не би пишувале сопствен JWT валидатор како во лабораторијата. Би користеле одржувана библиотека со експлицитно дозволен алгоритам и точен клуч за тој алгоритам. HMAC тајната треба да биде случајна, најмалку 32 бајти за HS256, и да стои надвор од кодот. Покрај потписот, треба да се проверуваат релевантните claims како iss, aud и exp. Овие мерки се надвор од поедноставениот лабораториски модел.</a:t>
            </a:r>
          </a:p>
          <a:p xmlns:a="http://schemas.openxmlformats.org/drawingml/2006/main">
            <a:r>
              <a:t/>
            </a:r>
          </a:p>
          <a:p xmlns:a="http://schemas.openxmlformats.org/drawingml/2006/main">
            <a:r>
              <a:t>Извори: RFC 8725: https://www.rfc-editor.org/rfc/rfc8725.html | RFC 7519: https://www.rfc-editor.org/rfc/rfc7519.html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Говорник 2 | 0:20</a:t>
            </a:r>
          </a:p>
          <a:p xmlns:a="http://schemas.openxmlformats.org/drawingml/2006/main">
            <a:r>
              <a:t/>
            </a:r>
          </a:p>
          <a:p xmlns:a="http://schemas.openxmlformats.org/drawingml/2006/main">
            <a:r>
              <a:t>OAuth пропустот беше во прифаќањето одговор од погрешна browser трансакција. JWT пропустите беа во изборот на алгоритам или клуч. Заедничката поука е дека серверот мора да ја утврди својата безбедносна проверка пред да го обработи непроверениот влез. Во елаборатот се сите команди, целосните лабораториски чекори и бришењето на околината. Благодариме, подготвени сме за прашања.</a:t>
            </a:r>
          </a:p>
          <a:p xmlns:a="http://schemas.openxmlformats.org/drawingml/2006/main">
            <a:r>
              <a:t/>
            </a:r>
          </a:p>
          <a:p xmlns:a="http://schemas.openxmlformats.org/drawingml/2006/main">
            <a:r>
              <a:t>Извори: Елаборат, секција 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378fa23aeb7486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11b8cc91fd940b5" /><Relationship Type="http://schemas.openxmlformats.org/officeDocument/2006/relationships/slideLayout" Target="/ppt/slideLayouts/slideLayout1.xml" Id="R3b4a9275112c433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b4a9275112c433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37117201bef4012" /><Relationship Type="http://schemas.openxmlformats.org/officeDocument/2006/relationships/image" Target="/ppt/media/image.png" Id="Rb512cd613a044293" /><Relationship Type="http://schemas.openxmlformats.org/officeDocument/2006/relationships/notesSlide" Target="/ppt/notesSlides/notesSlide1.xml" Id="Rcd4ea88e5389449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711ae88574a4f90" /><Relationship Type="http://schemas.openxmlformats.org/officeDocument/2006/relationships/notesSlide" Target="/ppt/notesSlides/notesSlide2.xml" Id="R38056debdd83401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bb511dba45d475a" /><Relationship Type="http://schemas.openxmlformats.org/officeDocument/2006/relationships/notesSlide" Target="/ppt/notesSlides/notesSlide3.xml" Id="R8ae727bb9c664ec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f85af8a75a14d44" /><Relationship Type="http://schemas.openxmlformats.org/officeDocument/2006/relationships/notesSlide" Target="/ppt/notesSlides/notesSlide4.xml" Id="R7db3e678c3e2411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375484a30884165" /><Relationship Type="http://schemas.openxmlformats.org/officeDocument/2006/relationships/notesSlide" Target="/ppt/notesSlides/notesSlide5.xml" Id="R3b8425dd4a854f5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74f19349104404a" /><Relationship Type="http://schemas.openxmlformats.org/officeDocument/2006/relationships/notesSlide" Target="/ppt/notesSlides/notesSlide6.xml" Id="R3ef76fffb3684bc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bb2b87695204f66" /><Relationship Type="http://schemas.openxmlformats.org/officeDocument/2006/relationships/notesSlide" Target="/ppt/notesSlides/notesSlide7.xml" Id="R01813cacf00d4f3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bd64914346149d2" /><Relationship Type="http://schemas.openxmlformats.org/officeDocument/2006/relationships/notesSlide" Target="/ppt/notesSlides/notesSlide8.xml" Id="R58679e99bd6e4b6d"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a29ae1309784c34" /><Relationship Type="http://schemas.openxmlformats.org/officeDocument/2006/relationships/notesSlide" Target="/ppt/notesSlides/notesSlide9.xml" Id="Re8dd952ab2b3493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34a61e9049794481" /><Relationship Type="http://schemas.openxmlformats.org/officeDocument/2006/relationships/notesSlide" Target="/ppt/notesSlides/notesSlide10.xml" Id="R68cdd1d585b448d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dabb4f11d1f042b8" /><Relationship Type="http://schemas.openxmlformats.org/officeDocument/2006/relationships/notesSlide" Target="/ppt/notesSlides/notesSlide11.xml" Id="Rf7f805c0b8f947f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4c5be62a10fb4052" /><Relationship Type="http://schemas.openxmlformats.org/officeDocument/2006/relationships/notesSlide" Target="/ppt/notesSlides/notesSlide12.xml" Id="Rab6130421d9d49b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90dfceb827e54324" /><Relationship Type="http://schemas.openxmlformats.org/officeDocument/2006/relationships/notesSlide" Target="/ppt/notesSlides/notesSlide13.xml" Id="R27a44288de124f6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f69bf48c0db14627" /><Relationship Type="http://schemas.openxmlformats.org/officeDocument/2006/relationships/notesSlide" Target="/ppt/notesSlides/notesSlide14.xml" Id="R75964d177d64491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48833365da754f7e" /><Relationship Type="http://schemas.openxmlformats.org/officeDocument/2006/relationships/notesSlide" Target="/ppt/notesSlides/notesSlide15.xml" Id="Rc2f5f02bffc24d62" /></Relationships>
</file>

<file path=ppt/slides/slide1.xml><?xml version="1.0" encoding="utf-8"?>
<p:sld xmlns:p="http://schemas.openxmlformats.org/presentationml/2006/main">
  <p:cSld>
    <p:bg>
      <p:bgPr>
        <a:solidFill xmlns:a="http://schemas.openxmlformats.org/drawingml/2006/main">
          <a:srgbClr val="142C3A"/>
        </a:solidFill>
      </p:bgPr>
    </p:bg>
    <p:spTree>
      <p:nvGrpSpPr>
        <p:cNvPr id="1" name=""/>
        <p:cNvGrpSpPr/>
        <p:nvPr/>
      </p:nvGrpSpPr>
      <p:grpSpPr>
        <a:xfrm xmlns:a="http://schemas.openxmlformats.org/drawingml/2006/main"/>
      </p:grpSpPr>
      <p:pic>
        <p:nvPicPr>
          <p:cNvPr id="4" name=""/>
          <p:cNvPicPr>
            <a:picLocks xmlns:a="http://schemas.openxmlformats.org/drawingml/2006/main" noChangeAspect="1"/>
          </p:cNvPicPr>
          <p:nvPr/>
        </p:nvPicPr>
        <p:blipFill>
          <a:blip xmlns:r="http://schemas.openxmlformats.org/officeDocument/2006/relationships" xmlns:a="http://schemas.openxmlformats.org/drawingml/2006/main" r:embed="Rb512cd613a044293"/>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cover-title">
            <a:extLst xmlns:a="http://schemas.openxmlformats.org/drawingml/2006/main">
              <a:ext uri="{FF2B5EF4-FFF2-40B4-BE49-F238E27FC236}">
                <a16:creationId xmlns:a16="http://schemas.microsoft.com/office/drawing/2014/main" id="{370D27F4-ED1B-4FD6-AC12-0E2D159FC72C}"/>
              </a:ext>
            </a:extLst>
          </p:cNvPr>
          <p:cNvSpPr>
            <a:spLocks xmlns:a="http://schemas.openxmlformats.org/drawingml/2006/main" noGrp="1"/>
          </p:cNvSpPr>
          <p:nvPr/>
        </p:nvSpPr>
        <p:spPr>
          <a:xfrm xmlns:a="http://schemas.openxmlformats.org/drawingml/2006/main">
            <a:off x="723900" y="1781175"/>
            <a:ext cx="6238875"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275" b="1">
                <a:solidFill>
                  <a:srgbClr val="FFFFFF"/>
                </a:solidFill>
                <a:latin typeface="Arial"/>
                <a:ea typeface="Arial"/>
                <a:cs typeface="Arial"/>
              </a:defRPr>
            </a:pPr>
            <a:r>
              <a:rPr sz="4275" b="1">
                <a:solidFill>
                  <a:srgbClr val="FFFFFF"/>
                </a:solidFill>
                <a:latin typeface="Arial"/>
                <a:ea typeface="Arial"/>
                <a:cs typeface="Arial"/>
              </a:rPr>
              <a:t>OAuth 2.0 и</a:t>
            </a:r>
          </a:p>
          <a:p xmlns:a="http://schemas.openxmlformats.org/drawingml/2006/main">
            <a:pPr algn="l">
              <a:defRPr sz="4275" b="1">
                <a:solidFill>
                  <a:srgbClr val="FFFFFF"/>
                </a:solidFill>
                <a:latin typeface="Arial"/>
                <a:ea typeface="Arial"/>
                <a:cs typeface="Arial"/>
              </a:defRPr>
            </a:pPr>
            <a:r>
              <a:rPr sz="4275" b="1">
                <a:solidFill>
                  <a:srgbClr val="FFFFFF"/>
                </a:solidFill>
                <a:latin typeface="Arial"/>
                <a:ea typeface="Arial"/>
                <a:cs typeface="Arial"/>
              </a:rPr>
              <a:t>JWT ранливости</a:t>
            </a:r>
          </a:p>
        </p:txBody>
      </p:sp>
      <p:sp>
        <p:nvSpPr>
          <p:cNvPr id="3" name="cover-subtitle">
            <a:extLst xmlns:a="http://schemas.openxmlformats.org/drawingml/2006/main">
              <a:ext uri="{FF2B5EF4-FFF2-40B4-BE49-F238E27FC236}">
                <a16:creationId xmlns:a16="http://schemas.microsoft.com/office/drawing/2014/main" id="{930DF6DD-B2D1-4FD7-8FE9-FC0259428A83}"/>
              </a:ext>
            </a:extLst>
          </p:cNvPr>
          <p:cNvSpPr>
            <a:spLocks xmlns:a="http://schemas.openxmlformats.org/drawingml/2006/main" noGrp="1"/>
          </p:cNvSpPr>
          <p:nvPr/>
        </p:nvSpPr>
        <p:spPr>
          <a:xfrm xmlns:a="http://schemas.openxmlformats.org/drawingml/2006/main">
            <a:off x="742950" y="3886200"/>
            <a:ext cx="6572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D6E5E9"/>
                </a:solidFill>
                <a:latin typeface="Arial"/>
                <a:ea typeface="Arial"/>
                <a:cs typeface="Arial"/>
              </a:defRPr>
            </a:pPr>
            <a:r>
              <a:rPr sz="1950" b="0">
                <a:solidFill>
                  <a:srgbClr val="D6E5E9"/>
                </a:solidFill>
                <a:latin typeface="Arial"/>
                <a:ea typeface="Arial"/>
                <a:cs typeface="Arial"/>
              </a:rPr>
              <a:t>Четири пропусти во две локални лаборатории</a:t>
            </a:r>
          </a:p>
        </p:txBody>
      </p:sp>
    </p:spTree>
    <p:extLst>
      <p:ext uri="{BB962C8B-B14F-4D97-AF65-F5344CB8AC3E}">
        <p14:creationId xmlns:p14="http://schemas.microsoft.com/office/powerpoint/2010/main" val="175932023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itle-2">
            <a:extLst xmlns:a="http://schemas.openxmlformats.org/drawingml/2006/main">
              <a:ext uri="{FF2B5EF4-FFF2-40B4-BE49-F238E27FC236}">
                <a16:creationId xmlns:a16="http://schemas.microsoft.com/office/drawing/2014/main" id="{1DED418C-75F7-4761-A67C-DCD43209ADD3}"/>
              </a:ext>
            </a:extLst>
          </p:cNvPr>
          <p:cNvSpPr>
            <a:spLocks xmlns:a="http://schemas.openxmlformats.org/drawingml/2006/main" noGrp="1"/>
          </p:cNvSpPr>
          <p:nvPr/>
        </p:nvSpPr>
        <p:spPr>
          <a:xfrm xmlns:a="http://schemas.openxmlformats.org/drawingml/2006/main">
            <a:off x="685800" y="438150"/>
            <a:ext cx="108204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42C3A"/>
                </a:solidFill>
                <a:latin typeface="Arial"/>
                <a:ea typeface="Arial"/>
                <a:cs typeface="Arial"/>
              </a:defRPr>
            </a:pPr>
            <a:r>
              <a:rPr sz="3150" b="1">
                <a:solidFill>
                  <a:srgbClr val="142C3A"/>
                </a:solidFill>
                <a:latin typeface="Arial"/>
                <a:ea typeface="Arial"/>
                <a:cs typeface="Arial"/>
              </a:rPr>
              <a:t>OAuth, OIDC и JWT</a:t>
            </a:r>
          </a:p>
        </p:txBody>
      </p:sp>
      <p:sp>
        <p:nvSpPr>
          <p:cNvPr id="2" name="number-2">
            <a:extLst xmlns:a="http://schemas.openxmlformats.org/drawingml/2006/main">
              <a:ext uri="{FF2B5EF4-FFF2-40B4-BE49-F238E27FC236}">
                <a16:creationId xmlns:a16="http://schemas.microsoft.com/office/drawing/2014/main" id="{ACD560CB-8E86-4660-8564-BFAAF4DEDAD1}"/>
              </a:ext>
            </a:extLst>
          </p:cNvPr>
          <p:cNvSpPr>
            <a:spLocks xmlns:a="http://schemas.openxmlformats.org/drawingml/2006/main" noGrp="1"/>
          </p:cNvSpPr>
          <p:nvPr/>
        </p:nvSpPr>
        <p:spPr>
          <a:xfrm xmlns:a="http://schemas.openxmlformats.org/drawingml/2006/main">
            <a:off x="10991850" y="6305550"/>
            <a:ext cx="5143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52616B"/>
                </a:solidFill>
                <a:latin typeface="Arial"/>
                <a:ea typeface="Arial"/>
                <a:cs typeface="Arial"/>
              </a:defRPr>
            </a:pPr>
            <a:r>
              <a:rPr sz="1125" b="0">
                <a:solidFill>
                  <a:srgbClr val="52616B"/>
                </a:solidFill>
                <a:latin typeface="Arial"/>
                <a:ea typeface="Arial"/>
                <a:cs typeface="Arial"/>
              </a:rPr>
              <a:t>02</a:t>
            </a:r>
          </a:p>
        </p:txBody>
      </p:sp>
      <p:sp>
        <p:nvSpPr>
          <p:cNvPr id="3" name="concept-oauth-title">
            <a:extLst xmlns:a="http://schemas.openxmlformats.org/drawingml/2006/main">
              <a:ext uri="{FF2B5EF4-FFF2-40B4-BE49-F238E27FC236}">
                <a16:creationId xmlns:a16="http://schemas.microsoft.com/office/drawing/2014/main" id="{A6BA41FE-0D56-45DB-9A7A-D20233BBD490}"/>
              </a:ext>
            </a:extLst>
          </p:cNvPr>
          <p:cNvSpPr>
            <a:spLocks xmlns:a="http://schemas.openxmlformats.org/drawingml/2006/main" noGrp="1"/>
          </p:cNvSpPr>
          <p:nvPr/>
        </p:nvSpPr>
        <p:spPr>
          <a:xfrm xmlns:a="http://schemas.openxmlformats.org/drawingml/2006/main">
            <a:off x="733425" y="1638300"/>
            <a:ext cx="10191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87F86"/>
                </a:solidFill>
                <a:latin typeface="Arial"/>
                <a:ea typeface="Arial"/>
                <a:cs typeface="Arial"/>
              </a:defRPr>
            </a:pPr>
            <a:r>
              <a:rPr sz="2325" b="1">
                <a:solidFill>
                  <a:srgbClr val="087F86"/>
                </a:solidFill>
                <a:latin typeface="Arial"/>
                <a:ea typeface="Arial"/>
                <a:cs typeface="Arial"/>
              </a:rPr>
              <a:t>OAuth 2.0</a:t>
            </a:r>
          </a:p>
        </p:txBody>
      </p:sp>
      <p:sp>
        <p:nvSpPr>
          <p:cNvPr id="4" name="concept-oauth-desc">
            <a:extLst xmlns:a="http://schemas.openxmlformats.org/drawingml/2006/main">
              <a:ext uri="{FF2B5EF4-FFF2-40B4-BE49-F238E27FC236}">
                <a16:creationId xmlns:a16="http://schemas.microsoft.com/office/drawing/2014/main" id="{77C25F8B-464B-44CE-AE7F-21D30F5CA097}"/>
              </a:ext>
            </a:extLst>
          </p:cNvPr>
          <p:cNvSpPr>
            <a:spLocks xmlns:a="http://schemas.openxmlformats.org/drawingml/2006/main" noGrp="1"/>
          </p:cNvSpPr>
          <p:nvPr/>
        </p:nvSpPr>
        <p:spPr>
          <a:xfrm xmlns:a="http://schemas.openxmlformats.org/drawingml/2006/main">
            <a:off x="733425" y="2105025"/>
            <a:ext cx="10382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B2630"/>
                </a:solidFill>
                <a:latin typeface="Arial"/>
                <a:ea typeface="Arial"/>
                <a:cs typeface="Arial"/>
              </a:defRPr>
            </a:pPr>
            <a:r>
              <a:rPr sz="1875" b="0">
                <a:solidFill>
                  <a:srgbClr val="1B2630"/>
                </a:solidFill>
                <a:latin typeface="Arial"/>
                <a:ea typeface="Arial"/>
                <a:cs typeface="Arial"/>
              </a:rPr>
              <a:t>Делегиран пристап до ресурс без споделување лозинка.</a:t>
            </a:r>
          </a:p>
        </p:txBody>
      </p:sp>
      <p:sp>
        <p:nvSpPr>
          <p:cNvPr id="5" name="concept-oidc-title">
            <a:extLst xmlns:a="http://schemas.openxmlformats.org/drawingml/2006/main">
              <a:ext uri="{FF2B5EF4-FFF2-40B4-BE49-F238E27FC236}">
                <a16:creationId xmlns:a16="http://schemas.microsoft.com/office/drawing/2014/main" id="{C5D499EC-983A-402C-ADB1-A866F4E89ECD}"/>
              </a:ext>
            </a:extLst>
          </p:cNvPr>
          <p:cNvSpPr>
            <a:spLocks xmlns:a="http://schemas.openxmlformats.org/drawingml/2006/main" noGrp="1"/>
          </p:cNvSpPr>
          <p:nvPr/>
        </p:nvSpPr>
        <p:spPr>
          <a:xfrm xmlns:a="http://schemas.openxmlformats.org/drawingml/2006/main">
            <a:off x="733425" y="3067050"/>
            <a:ext cx="10191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87F86"/>
                </a:solidFill>
                <a:latin typeface="Arial"/>
                <a:ea typeface="Arial"/>
                <a:cs typeface="Arial"/>
              </a:defRPr>
            </a:pPr>
            <a:r>
              <a:rPr sz="2325" b="1">
                <a:solidFill>
                  <a:srgbClr val="087F86"/>
                </a:solidFill>
                <a:latin typeface="Arial"/>
                <a:ea typeface="Arial"/>
                <a:cs typeface="Arial"/>
              </a:rPr>
              <a:t>OpenID Connect</a:t>
            </a:r>
          </a:p>
        </p:txBody>
      </p:sp>
      <p:sp>
        <p:nvSpPr>
          <p:cNvPr id="6" name="concept-oidc-desc">
            <a:extLst xmlns:a="http://schemas.openxmlformats.org/drawingml/2006/main">
              <a:ext uri="{FF2B5EF4-FFF2-40B4-BE49-F238E27FC236}">
                <a16:creationId xmlns:a16="http://schemas.microsoft.com/office/drawing/2014/main" id="{AD23E7CB-6E6F-47CC-9026-510D7013D43D}"/>
              </a:ext>
            </a:extLst>
          </p:cNvPr>
          <p:cNvSpPr>
            <a:spLocks xmlns:a="http://schemas.openxmlformats.org/drawingml/2006/main" noGrp="1"/>
          </p:cNvSpPr>
          <p:nvPr/>
        </p:nvSpPr>
        <p:spPr>
          <a:xfrm xmlns:a="http://schemas.openxmlformats.org/drawingml/2006/main">
            <a:off x="733425" y="3533775"/>
            <a:ext cx="10382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B2630"/>
                </a:solidFill>
                <a:latin typeface="Arial"/>
                <a:ea typeface="Arial"/>
                <a:cs typeface="Arial"/>
              </a:defRPr>
            </a:pPr>
            <a:r>
              <a:rPr sz="1875" b="0">
                <a:solidFill>
                  <a:srgbClr val="1B2630"/>
                </a:solidFill>
                <a:latin typeface="Arial"/>
                <a:ea typeface="Arial"/>
                <a:cs typeface="Arial"/>
              </a:rPr>
              <a:t>Идентитетски слој за најава врз OAuth 2.0.</a:t>
            </a:r>
          </a:p>
        </p:txBody>
      </p:sp>
      <p:sp>
        <p:nvSpPr>
          <p:cNvPr id="7" name="concept-jwt-title">
            <a:extLst xmlns:a="http://schemas.openxmlformats.org/drawingml/2006/main">
              <a:ext uri="{FF2B5EF4-FFF2-40B4-BE49-F238E27FC236}">
                <a16:creationId xmlns:a16="http://schemas.microsoft.com/office/drawing/2014/main" id="{0D1C3306-D9CF-447D-88DF-2A4DE327CA7A}"/>
              </a:ext>
            </a:extLst>
          </p:cNvPr>
          <p:cNvSpPr>
            <a:spLocks xmlns:a="http://schemas.openxmlformats.org/drawingml/2006/main" noGrp="1"/>
          </p:cNvSpPr>
          <p:nvPr/>
        </p:nvSpPr>
        <p:spPr>
          <a:xfrm xmlns:a="http://schemas.openxmlformats.org/drawingml/2006/main">
            <a:off x="733425" y="4495800"/>
            <a:ext cx="10191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87F86"/>
                </a:solidFill>
                <a:latin typeface="Arial"/>
                <a:ea typeface="Arial"/>
                <a:cs typeface="Arial"/>
              </a:defRPr>
            </a:pPr>
            <a:r>
              <a:rPr sz="2325" b="1">
                <a:solidFill>
                  <a:srgbClr val="087F86"/>
                </a:solidFill>
                <a:latin typeface="Arial"/>
                <a:ea typeface="Arial"/>
                <a:cs typeface="Arial"/>
              </a:rPr>
              <a:t>JWT</a:t>
            </a:r>
          </a:p>
        </p:txBody>
      </p:sp>
      <p:sp>
        <p:nvSpPr>
          <p:cNvPr id="8" name="concept-jwt-desc">
            <a:extLst xmlns:a="http://schemas.openxmlformats.org/drawingml/2006/main">
              <a:ext uri="{FF2B5EF4-FFF2-40B4-BE49-F238E27FC236}">
                <a16:creationId xmlns:a16="http://schemas.microsoft.com/office/drawing/2014/main" id="{0A16AF4D-24C2-4FE0-BB1F-FB4989F18668}"/>
              </a:ext>
            </a:extLst>
          </p:cNvPr>
          <p:cNvSpPr>
            <a:spLocks xmlns:a="http://schemas.openxmlformats.org/drawingml/2006/main" noGrp="1"/>
          </p:cNvSpPr>
          <p:nvPr/>
        </p:nvSpPr>
        <p:spPr>
          <a:xfrm xmlns:a="http://schemas.openxmlformats.org/drawingml/2006/main">
            <a:off x="733425" y="4962525"/>
            <a:ext cx="10382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B2630"/>
                </a:solidFill>
                <a:latin typeface="Arial"/>
                <a:ea typeface="Arial"/>
                <a:cs typeface="Arial"/>
              </a:defRPr>
            </a:pPr>
            <a:r>
              <a:rPr sz="1875" b="0">
                <a:solidFill>
                  <a:srgbClr val="1B2630"/>
                </a:solidFill>
                <a:latin typeface="Arial"/>
                <a:ea typeface="Arial"/>
                <a:cs typeface="Arial"/>
              </a:rPr>
              <a:t>Формат на токен што носи потпишани тврдења.</a:t>
            </a:r>
          </a:p>
        </p:txBody>
      </p:sp>
    </p:spTree>
    <p:extLst>
      <p:ext uri="{BB962C8B-B14F-4D97-AF65-F5344CB8AC3E}">
        <p14:creationId xmlns:p14="http://schemas.microsoft.com/office/powerpoint/2010/main" val="185737350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title-3">
            <a:extLst xmlns:a="http://schemas.openxmlformats.org/drawingml/2006/main">
              <a:ext uri="{FF2B5EF4-FFF2-40B4-BE49-F238E27FC236}">
                <a16:creationId xmlns:a16="http://schemas.microsoft.com/office/drawing/2014/main" id="{84798493-E09D-4088-9682-AA57CCF84D34}"/>
              </a:ext>
            </a:extLst>
          </p:cNvPr>
          <p:cNvSpPr>
            <a:spLocks xmlns:a="http://schemas.openxmlformats.org/drawingml/2006/main" noGrp="1"/>
          </p:cNvSpPr>
          <p:nvPr/>
        </p:nvSpPr>
        <p:spPr>
          <a:xfrm xmlns:a="http://schemas.openxmlformats.org/drawingml/2006/main">
            <a:off x="685800" y="438150"/>
            <a:ext cx="108204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42C3A"/>
                </a:solidFill>
                <a:latin typeface="Arial"/>
                <a:ea typeface="Arial"/>
                <a:cs typeface="Arial"/>
              </a:defRPr>
            </a:pPr>
            <a:r>
              <a:rPr sz="3150" b="1">
                <a:solidFill>
                  <a:srgbClr val="142C3A"/>
                </a:solidFill>
                <a:latin typeface="Arial"/>
                <a:ea typeface="Arial"/>
                <a:cs typeface="Arial"/>
              </a:rPr>
              <a:t>Нормален OAuth тек</a:t>
            </a:r>
          </a:p>
        </p:txBody>
      </p:sp>
      <p:sp>
        <p:nvSpPr>
          <p:cNvPr id="2" name="number-3">
            <a:extLst xmlns:a="http://schemas.openxmlformats.org/drawingml/2006/main">
              <a:ext uri="{FF2B5EF4-FFF2-40B4-BE49-F238E27FC236}">
                <a16:creationId xmlns:a16="http://schemas.microsoft.com/office/drawing/2014/main" id="{BD9B7212-A279-4B50-8F87-BB5BDA6BE2D3}"/>
              </a:ext>
            </a:extLst>
          </p:cNvPr>
          <p:cNvSpPr>
            <a:spLocks xmlns:a="http://schemas.openxmlformats.org/drawingml/2006/main" noGrp="1"/>
          </p:cNvSpPr>
          <p:nvPr/>
        </p:nvSpPr>
        <p:spPr>
          <a:xfrm xmlns:a="http://schemas.openxmlformats.org/drawingml/2006/main">
            <a:off x="10991850" y="6305550"/>
            <a:ext cx="5143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52616B"/>
                </a:solidFill>
                <a:latin typeface="Arial"/>
                <a:ea typeface="Arial"/>
                <a:cs typeface="Arial"/>
              </a:defRPr>
            </a:pPr>
            <a:r>
              <a:rPr sz="1125" b="0">
                <a:solidFill>
                  <a:srgbClr val="52616B"/>
                </a:solidFill>
                <a:latin typeface="Arial"/>
                <a:ea typeface="Arial"/>
                <a:cs typeface="Arial"/>
              </a:rPr>
              <a:t>03</a:t>
            </a:r>
          </a:p>
        </p:txBody>
      </p:sp>
      <p:sp>
        <p:nvSpPr>
          <p:cNvPr id="3" name="normal-flow-n-0">
            <a:extLst xmlns:a="http://schemas.openxmlformats.org/drawingml/2006/main">
              <a:ext uri="{FF2B5EF4-FFF2-40B4-BE49-F238E27FC236}">
                <a16:creationId xmlns:a16="http://schemas.microsoft.com/office/drawing/2014/main" id="{15E8C823-3F86-4261-8DB8-F9763F421FC4}"/>
              </a:ext>
            </a:extLst>
          </p:cNvPr>
          <p:cNvSpPr>
            <a:spLocks xmlns:a="http://schemas.openxmlformats.org/drawingml/2006/main" noGrp="1"/>
          </p:cNvSpPr>
          <p:nvPr/>
        </p:nvSpPr>
        <p:spPr>
          <a:xfrm xmlns:a="http://schemas.openxmlformats.org/drawingml/2006/main">
            <a:off x="742950" y="1514475"/>
            <a:ext cx="714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87F86"/>
                </a:solidFill>
                <a:latin typeface="Arial"/>
                <a:ea typeface="Arial"/>
                <a:cs typeface="Arial"/>
              </a:defRPr>
            </a:pPr>
            <a:r>
              <a:rPr sz="2325" b="1">
                <a:solidFill>
                  <a:srgbClr val="087F86"/>
                </a:solidFill>
                <a:latin typeface="Arial"/>
                <a:ea typeface="Arial"/>
                <a:cs typeface="Arial"/>
              </a:rPr>
              <a:t>01</a:t>
            </a:r>
          </a:p>
        </p:txBody>
      </p:sp>
      <p:sp>
        <p:nvSpPr>
          <p:cNvPr id="4" name="normal-flow-text-0">
            <a:extLst xmlns:a="http://schemas.openxmlformats.org/drawingml/2006/main">
              <a:ext uri="{FF2B5EF4-FFF2-40B4-BE49-F238E27FC236}">
                <a16:creationId xmlns:a16="http://schemas.microsoft.com/office/drawing/2014/main" id="{7A71DFC6-A303-4E29-910C-B53A8873B5E8}"/>
              </a:ext>
            </a:extLst>
          </p:cNvPr>
          <p:cNvSpPr>
            <a:spLocks xmlns:a="http://schemas.openxmlformats.org/drawingml/2006/main" noGrp="1"/>
          </p:cNvSpPr>
          <p:nvPr/>
        </p:nvSpPr>
        <p:spPr>
          <a:xfrm xmlns:a="http://schemas.openxmlformats.org/drawingml/2006/main">
            <a:off x="1619250" y="1533525"/>
            <a:ext cx="9620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B2630"/>
                </a:solidFill>
                <a:latin typeface="Arial"/>
                <a:ea typeface="Arial"/>
                <a:cs typeface="Arial"/>
              </a:defRPr>
            </a:pPr>
            <a:r>
              <a:rPr sz="1950" b="0">
                <a:solidFill>
                  <a:srgbClr val="1B2630"/>
                </a:solidFill>
                <a:latin typeface="Arial"/>
                <a:ea typeface="Arial"/>
                <a:cs typeface="Arial"/>
              </a:rPr>
              <a:t>Клиентот го пренасочува прелистувачот кон провајдерот.</a:t>
            </a:r>
          </a:p>
        </p:txBody>
      </p:sp>
      <p:sp>
        <p:nvSpPr>
          <p:cNvPr id="5" name="normal-flow-n-1">
            <a:extLst xmlns:a="http://schemas.openxmlformats.org/drawingml/2006/main">
              <a:ext uri="{FF2B5EF4-FFF2-40B4-BE49-F238E27FC236}">
                <a16:creationId xmlns:a16="http://schemas.microsoft.com/office/drawing/2014/main" id="{152996EC-767D-4541-8E07-710CC6EAB9F6}"/>
              </a:ext>
            </a:extLst>
          </p:cNvPr>
          <p:cNvSpPr>
            <a:spLocks xmlns:a="http://schemas.openxmlformats.org/drawingml/2006/main" noGrp="1"/>
          </p:cNvSpPr>
          <p:nvPr/>
        </p:nvSpPr>
        <p:spPr>
          <a:xfrm xmlns:a="http://schemas.openxmlformats.org/drawingml/2006/main">
            <a:off x="742950" y="2381250"/>
            <a:ext cx="714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87F86"/>
                </a:solidFill>
                <a:latin typeface="Arial"/>
                <a:ea typeface="Arial"/>
                <a:cs typeface="Arial"/>
              </a:defRPr>
            </a:pPr>
            <a:r>
              <a:rPr sz="2325" b="1">
                <a:solidFill>
                  <a:srgbClr val="087F86"/>
                </a:solidFill>
                <a:latin typeface="Arial"/>
                <a:ea typeface="Arial"/>
                <a:cs typeface="Arial"/>
              </a:rPr>
              <a:t>02</a:t>
            </a:r>
          </a:p>
        </p:txBody>
      </p:sp>
      <p:sp>
        <p:nvSpPr>
          <p:cNvPr id="6" name="normal-flow-text-1">
            <a:extLst xmlns:a="http://schemas.openxmlformats.org/drawingml/2006/main">
              <a:ext uri="{FF2B5EF4-FFF2-40B4-BE49-F238E27FC236}">
                <a16:creationId xmlns:a16="http://schemas.microsoft.com/office/drawing/2014/main" id="{7FBA90F1-3CC2-48F2-AC74-B05847612323}"/>
              </a:ext>
            </a:extLst>
          </p:cNvPr>
          <p:cNvSpPr>
            <a:spLocks xmlns:a="http://schemas.openxmlformats.org/drawingml/2006/main" noGrp="1"/>
          </p:cNvSpPr>
          <p:nvPr/>
        </p:nvSpPr>
        <p:spPr>
          <a:xfrm xmlns:a="http://schemas.openxmlformats.org/drawingml/2006/main">
            <a:off x="1619250" y="2400300"/>
            <a:ext cx="9620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B2630"/>
                </a:solidFill>
                <a:latin typeface="Arial"/>
                <a:ea typeface="Arial"/>
                <a:cs typeface="Arial"/>
              </a:defRPr>
            </a:pPr>
            <a:r>
              <a:rPr sz="1950" b="0">
                <a:solidFill>
                  <a:srgbClr val="1B2630"/>
                </a:solidFill>
                <a:latin typeface="Arial"/>
                <a:ea typeface="Arial"/>
                <a:cs typeface="Arial"/>
              </a:rPr>
              <a:t>Барањето носи client_id, redirect_uri, scope и state.</a:t>
            </a:r>
          </a:p>
        </p:txBody>
      </p:sp>
      <p:sp>
        <p:nvSpPr>
          <p:cNvPr id="7" name="normal-flow-n-2">
            <a:extLst xmlns:a="http://schemas.openxmlformats.org/drawingml/2006/main">
              <a:ext uri="{FF2B5EF4-FFF2-40B4-BE49-F238E27FC236}">
                <a16:creationId xmlns:a16="http://schemas.microsoft.com/office/drawing/2014/main" id="{650DE5A1-E304-4ED4-B437-822D481B7279}"/>
              </a:ext>
            </a:extLst>
          </p:cNvPr>
          <p:cNvSpPr>
            <a:spLocks xmlns:a="http://schemas.openxmlformats.org/drawingml/2006/main" noGrp="1"/>
          </p:cNvSpPr>
          <p:nvPr/>
        </p:nvSpPr>
        <p:spPr>
          <a:xfrm xmlns:a="http://schemas.openxmlformats.org/drawingml/2006/main">
            <a:off x="742950" y="3248025"/>
            <a:ext cx="714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87F86"/>
                </a:solidFill>
                <a:latin typeface="Arial"/>
                <a:ea typeface="Arial"/>
                <a:cs typeface="Arial"/>
              </a:defRPr>
            </a:pPr>
            <a:r>
              <a:rPr sz="2325" b="1">
                <a:solidFill>
                  <a:srgbClr val="087F86"/>
                </a:solidFill>
                <a:latin typeface="Arial"/>
                <a:ea typeface="Arial"/>
                <a:cs typeface="Arial"/>
              </a:rPr>
              <a:t>03</a:t>
            </a:r>
          </a:p>
        </p:txBody>
      </p:sp>
      <p:sp>
        <p:nvSpPr>
          <p:cNvPr id="8" name="normal-flow-text-2">
            <a:extLst xmlns:a="http://schemas.openxmlformats.org/drawingml/2006/main">
              <a:ext uri="{FF2B5EF4-FFF2-40B4-BE49-F238E27FC236}">
                <a16:creationId xmlns:a16="http://schemas.microsoft.com/office/drawing/2014/main" id="{C8C01864-B6CB-4E94-8EC8-D96B0F2D923E}"/>
              </a:ext>
            </a:extLst>
          </p:cNvPr>
          <p:cNvSpPr>
            <a:spLocks xmlns:a="http://schemas.openxmlformats.org/drawingml/2006/main" noGrp="1"/>
          </p:cNvSpPr>
          <p:nvPr/>
        </p:nvSpPr>
        <p:spPr>
          <a:xfrm xmlns:a="http://schemas.openxmlformats.org/drawingml/2006/main">
            <a:off x="1619250" y="3267075"/>
            <a:ext cx="9620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B2630"/>
                </a:solidFill>
                <a:latin typeface="Arial"/>
                <a:ea typeface="Arial"/>
                <a:cs typeface="Arial"/>
              </a:defRPr>
            </a:pPr>
            <a:r>
              <a:rPr sz="1950" b="0">
                <a:solidFill>
                  <a:srgbClr val="1B2630"/>
                </a:solidFill>
                <a:latin typeface="Arial"/>
                <a:ea typeface="Arial"/>
                <a:cs typeface="Arial"/>
              </a:rPr>
              <a:t>Провајдерот враќа краткотраен code и истиот state.</a:t>
            </a:r>
          </a:p>
        </p:txBody>
      </p:sp>
      <p:sp>
        <p:nvSpPr>
          <p:cNvPr id="9" name="normal-flow-n-3">
            <a:extLst xmlns:a="http://schemas.openxmlformats.org/drawingml/2006/main">
              <a:ext uri="{FF2B5EF4-FFF2-40B4-BE49-F238E27FC236}">
                <a16:creationId xmlns:a16="http://schemas.microsoft.com/office/drawing/2014/main" id="{2E795B10-6E64-4452-9819-875F3177B3DE}"/>
              </a:ext>
            </a:extLst>
          </p:cNvPr>
          <p:cNvSpPr>
            <a:spLocks xmlns:a="http://schemas.openxmlformats.org/drawingml/2006/main" noGrp="1"/>
          </p:cNvSpPr>
          <p:nvPr/>
        </p:nvSpPr>
        <p:spPr>
          <a:xfrm xmlns:a="http://schemas.openxmlformats.org/drawingml/2006/main">
            <a:off x="742950" y="4114800"/>
            <a:ext cx="714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87F86"/>
                </a:solidFill>
                <a:latin typeface="Arial"/>
                <a:ea typeface="Arial"/>
                <a:cs typeface="Arial"/>
              </a:defRPr>
            </a:pPr>
            <a:r>
              <a:rPr sz="2325" b="1">
                <a:solidFill>
                  <a:srgbClr val="087F86"/>
                </a:solidFill>
                <a:latin typeface="Arial"/>
                <a:ea typeface="Arial"/>
                <a:cs typeface="Arial"/>
              </a:rPr>
              <a:t>04</a:t>
            </a:r>
          </a:p>
        </p:txBody>
      </p:sp>
      <p:sp>
        <p:nvSpPr>
          <p:cNvPr id="10" name="normal-flow-text-3">
            <a:extLst xmlns:a="http://schemas.openxmlformats.org/drawingml/2006/main">
              <a:ext uri="{FF2B5EF4-FFF2-40B4-BE49-F238E27FC236}">
                <a16:creationId xmlns:a16="http://schemas.microsoft.com/office/drawing/2014/main" id="{CF4A550B-55F8-41D9-B0B3-D91814805F99}"/>
              </a:ext>
            </a:extLst>
          </p:cNvPr>
          <p:cNvSpPr>
            <a:spLocks xmlns:a="http://schemas.openxmlformats.org/drawingml/2006/main" noGrp="1"/>
          </p:cNvSpPr>
          <p:nvPr/>
        </p:nvSpPr>
        <p:spPr>
          <a:xfrm xmlns:a="http://schemas.openxmlformats.org/drawingml/2006/main">
            <a:off x="1619250" y="4133850"/>
            <a:ext cx="9620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B2630"/>
                </a:solidFill>
                <a:latin typeface="Arial"/>
                <a:ea typeface="Arial"/>
                <a:cs typeface="Arial"/>
              </a:defRPr>
            </a:pPr>
            <a:r>
              <a:rPr sz="1950" b="0">
                <a:solidFill>
                  <a:srgbClr val="1B2630"/>
                </a:solidFill>
                <a:latin typeface="Arial"/>
                <a:ea typeface="Arial"/>
                <a:cs typeface="Arial"/>
              </a:rPr>
              <a:t>Клиентот го проверува state и го менува code-от за токени.</a:t>
            </a:r>
          </a:p>
        </p:txBody>
      </p:sp>
      <p:sp>
        <p:nvSpPr>
          <p:cNvPr id="11" name="normal-flow-n-4">
            <a:extLst xmlns:a="http://schemas.openxmlformats.org/drawingml/2006/main">
              <a:ext uri="{FF2B5EF4-FFF2-40B4-BE49-F238E27FC236}">
                <a16:creationId xmlns:a16="http://schemas.microsoft.com/office/drawing/2014/main" id="{CF15BDE9-68B7-4373-9F58-EEBE232E98EF}"/>
              </a:ext>
            </a:extLst>
          </p:cNvPr>
          <p:cNvSpPr>
            <a:spLocks xmlns:a="http://schemas.openxmlformats.org/drawingml/2006/main" noGrp="1"/>
          </p:cNvSpPr>
          <p:nvPr/>
        </p:nvSpPr>
        <p:spPr>
          <a:xfrm xmlns:a="http://schemas.openxmlformats.org/drawingml/2006/main">
            <a:off x="742950" y="4981575"/>
            <a:ext cx="714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87F86"/>
                </a:solidFill>
                <a:latin typeface="Arial"/>
                <a:ea typeface="Arial"/>
                <a:cs typeface="Arial"/>
              </a:defRPr>
            </a:pPr>
            <a:r>
              <a:rPr sz="2325" b="1">
                <a:solidFill>
                  <a:srgbClr val="087F86"/>
                </a:solidFill>
                <a:latin typeface="Arial"/>
                <a:ea typeface="Arial"/>
                <a:cs typeface="Arial"/>
              </a:rPr>
              <a:t>05</a:t>
            </a:r>
          </a:p>
        </p:txBody>
      </p:sp>
      <p:sp>
        <p:nvSpPr>
          <p:cNvPr id="12" name="normal-flow-text-4">
            <a:extLst xmlns:a="http://schemas.openxmlformats.org/drawingml/2006/main">
              <a:ext uri="{FF2B5EF4-FFF2-40B4-BE49-F238E27FC236}">
                <a16:creationId xmlns:a16="http://schemas.microsoft.com/office/drawing/2014/main" id="{87695841-7D90-4C3C-B922-EED5E2EE4AD3}"/>
              </a:ext>
            </a:extLst>
          </p:cNvPr>
          <p:cNvSpPr>
            <a:spLocks xmlns:a="http://schemas.openxmlformats.org/drawingml/2006/main" noGrp="1"/>
          </p:cNvSpPr>
          <p:nvPr/>
        </p:nvSpPr>
        <p:spPr>
          <a:xfrm xmlns:a="http://schemas.openxmlformats.org/drawingml/2006/main">
            <a:off x="1619250" y="5000625"/>
            <a:ext cx="9620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B2630"/>
                </a:solidFill>
                <a:latin typeface="Arial"/>
                <a:ea typeface="Arial"/>
                <a:cs typeface="Arial"/>
              </a:defRPr>
            </a:pPr>
            <a:r>
              <a:rPr sz="1950" b="0">
                <a:solidFill>
                  <a:srgbClr val="1B2630"/>
                </a:solidFill>
                <a:latin typeface="Arial"/>
                <a:ea typeface="Arial"/>
                <a:cs typeface="Arial"/>
              </a:rPr>
              <a:t>Потоа создава сопствена апликациска сесија.</a:t>
            </a:r>
          </a:p>
        </p:txBody>
      </p:sp>
    </p:spTree>
    <p:extLst>
      <p:ext uri="{BB962C8B-B14F-4D97-AF65-F5344CB8AC3E}">
        <p14:creationId xmlns:p14="http://schemas.microsoft.com/office/powerpoint/2010/main" val="203632178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itle-4">
            <a:extLst xmlns:a="http://schemas.openxmlformats.org/drawingml/2006/main">
              <a:ext uri="{FF2B5EF4-FFF2-40B4-BE49-F238E27FC236}">
                <a16:creationId xmlns:a16="http://schemas.microsoft.com/office/drawing/2014/main" id="{12D6FF6A-CC30-4FBB-A32B-CF5EAFA4D4AF}"/>
              </a:ext>
            </a:extLst>
          </p:cNvPr>
          <p:cNvSpPr>
            <a:spLocks xmlns:a="http://schemas.openxmlformats.org/drawingml/2006/main" noGrp="1"/>
          </p:cNvSpPr>
          <p:nvPr/>
        </p:nvSpPr>
        <p:spPr>
          <a:xfrm xmlns:a="http://schemas.openxmlformats.org/drawingml/2006/main">
            <a:off x="685800" y="438150"/>
            <a:ext cx="108204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42C3A"/>
                </a:solidFill>
                <a:latin typeface="Arial"/>
                <a:ea typeface="Arial"/>
                <a:cs typeface="Arial"/>
              </a:defRPr>
            </a:pPr>
            <a:r>
              <a:rPr sz="3150" b="1">
                <a:solidFill>
                  <a:srgbClr val="142C3A"/>
                </a:solidFill>
                <a:latin typeface="Arial"/>
                <a:ea typeface="Arial"/>
                <a:cs typeface="Arial"/>
              </a:rPr>
              <a:t>Каде настанува Login CSRF</a:t>
            </a:r>
          </a:p>
        </p:txBody>
      </p:sp>
      <p:sp>
        <p:nvSpPr>
          <p:cNvPr id="2" name="number-4">
            <a:extLst xmlns:a="http://schemas.openxmlformats.org/drawingml/2006/main">
              <a:ext uri="{FF2B5EF4-FFF2-40B4-BE49-F238E27FC236}">
                <a16:creationId xmlns:a16="http://schemas.microsoft.com/office/drawing/2014/main" id="{7ACF2019-FA1E-4D7A-AF53-4602FBD49B3F}"/>
              </a:ext>
            </a:extLst>
          </p:cNvPr>
          <p:cNvSpPr>
            <a:spLocks xmlns:a="http://schemas.openxmlformats.org/drawingml/2006/main" noGrp="1"/>
          </p:cNvSpPr>
          <p:nvPr/>
        </p:nvSpPr>
        <p:spPr>
          <a:xfrm xmlns:a="http://schemas.openxmlformats.org/drawingml/2006/main">
            <a:off x="10991850" y="6305550"/>
            <a:ext cx="5143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52616B"/>
                </a:solidFill>
                <a:latin typeface="Arial"/>
                <a:ea typeface="Arial"/>
                <a:cs typeface="Arial"/>
              </a:defRPr>
            </a:pPr>
            <a:r>
              <a:rPr sz="1125" b="0">
                <a:solidFill>
                  <a:srgbClr val="52616B"/>
                </a:solidFill>
                <a:latin typeface="Arial"/>
                <a:ea typeface="Arial"/>
                <a:cs typeface="Arial"/>
              </a:rPr>
              <a:t>04</a:t>
            </a:r>
          </a:p>
        </p:txBody>
      </p:sp>
      <p:sp>
        <p:nvSpPr>
          <p:cNvPr id="3" name="correct-callback-title">
            <a:extLst xmlns:a="http://schemas.openxmlformats.org/drawingml/2006/main">
              <a:ext uri="{FF2B5EF4-FFF2-40B4-BE49-F238E27FC236}">
                <a16:creationId xmlns:a16="http://schemas.microsoft.com/office/drawing/2014/main" id="{59FDCB5F-19CD-496A-BA3B-B0A1A2366EE1}"/>
              </a:ext>
            </a:extLst>
          </p:cNvPr>
          <p:cNvSpPr>
            <a:spLocks xmlns:a="http://schemas.openxmlformats.org/drawingml/2006/main" noGrp="1"/>
          </p:cNvSpPr>
          <p:nvPr/>
        </p:nvSpPr>
        <p:spPr>
          <a:xfrm xmlns:a="http://schemas.openxmlformats.org/drawingml/2006/main">
            <a:off x="733425" y="1657350"/>
            <a:ext cx="10191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97157"/>
                </a:solidFill>
                <a:latin typeface="Arial"/>
                <a:ea typeface="Arial"/>
                <a:cs typeface="Arial"/>
              </a:defRPr>
            </a:pPr>
            <a:r>
              <a:rPr sz="2325" b="1">
                <a:solidFill>
                  <a:srgbClr val="197157"/>
                </a:solidFill>
                <a:latin typeface="Arial"/>
                <a:ea typeface="Arial"/>
                <a:cs typeface="Arial"/>
              </a:rPr>
              <a:t>Правилен клиент</a:t>
            </a:r>
          </a:p>
        </p:txBody>
      </p:sp>
      <p:sp>
        <p:nvSpPr>
          <p:cNvPr id="4" name="correct-callback-desc">
            <a:extLst xmlns:a="http://schemas.openxmlformats.org/drawingml/2006/main">
              <a:ext uri="{FF2B5EF4-FFF2-40B4-BE49-F238E27FC236}">
                <a16:creationId xmlns:a16="http://schemas.microsoft.com/office/drawing/2014/main" id="{09A25638-02D7-4063-8E02-9CFEE0C9B7C4}"/>
              </a:ext>
            </a:extLst>
          </p:cNvPr>
          <p:cNvSpPr>
            <a:spLocks xmlns:a="http://schemas.openxmlformats.org/drawingml/2006/main" noGrp="1"/>
          </p:cNvSpPr>
          <p:nvPr/>
        </p:nvSpPr>
        <p:spPr>
          <a:xfrm xmlns:a="http://schemas.openxmlformats.org/drawingml/2006/main">
            <a:off x="733425" y="2124075"/>
            <a:ext cx="10382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B2630"/>
                </a:solidFill>
                <a:latin typeface="Arial"/>
                <a:ea typeface="Arial"/>
                <a:cs typeface="Arial"/>
              </a:defRPr>
            </a:pPr>
            <a:r>
              <a:rPr sz="1875" b="0">
                <a:solidFill>
                  <a:srgbClr val="1B2630"/>
                </a:solidFill>
                <a:latin typeface="Arial"/>
                <a:ea typeface="Arial"/>
                <a:cs typeface="Arial"/>
              </a:rPr>
              <a:t>Го врзува callback-от со започнатата browser сесија.</a:t>
            </a:r>
          </a:p>
        </p:txBody>
      </p:sp>
      <p:sp>
        <p:nvSpPr>
          <p:cNvPr id="5" name="bad-callback-title">
            <a:extLst xmlns:a="http://schemas.openxmlformats.org/drawingml/2006/main">
              <a:ext uri="{FF2B5EF4-FFF2-40B4-BE49-F238E27FC236}">
                <a16:creationId xmlns:a16="http://schemas.microsoft.com/office/drawing/2014/main" id="{459AC980-7250-4258-937D-9A558AE8038F}"/>
              </a:ext>
            </a:extLst>
          </p:cNvPr>
          <p:cNvSpPr>
            <a:spLocks xmlns:a="http://schemas.openxmlformats.org/drawingml/2006/main" noGrp="1"/>
          </p:cNvSpPr>
          <p:nvPr/>
        </p:nvSpPr>
        <p:spPr>
          <a:xfrm xmlns:a="http://schemas.openxmlformats.org/drawingml/2006/main">
            <a:off x="733425" y="3152775"/>
            <a:ext cx="10191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B5403A"/>
                </a:solidFill>
                <a:latin typeface="Arial"/>
                <a:ea typeface="Arial"/>
                <a:cs typeface="Arial"/>
              </a:defRPr>
            </a:pPr>
            <a:r>
              <a:rPr sz="2325" b="1">
                <a:solidFill>
                  <a:srgbClr val="B5403A"/>
                </a:solidFill>
                <a:latin typeface="Arial"/>
                <a:ea typeface="Arial"/>
                <a:cs typeface="Arial"/>
              </a:rPr>
              <a:t>Ранлив клиент</a:t>
            </a:r>
          </a:p>
        </p:txBody>
      </p:sp>
      <p:sp>
        <p:nvSpPr>
          <p:cNvPr id="6" name="bad-callback-desc">
            <a:extLst xmlns:a="http://schemas.openxmlformats.org/drawingml/2006/main">
              <a:ext uri="{FF2B5EF4-FFF2-40B4-BE49-F238E27FC236}">
                <a16:creationId xmlns:a16="http://schemas.microsoft.com/office/drawing/2014/main" id="{3E234E87-967F-423A-B9CF-4480FBDB4070}"/>
              </a:ext>
            </a:extLst>
          </p:cNvPr>
          <p:cNvSpPr>
            <a:spLocks xmlns:a="http://schemas.openxmlformats.org/drawingml/2006/main" noGrp="1"/>
          </p:cNvSpPr>
          <p:nvPr/>
        </p:nvSpPr>
        <p:spPr>
          <a:xfrm xmlns:a="http://schemas.openxmlformats.org/drawingml/2006/main">
            <a:off x="733425" y="3619500"/>
            <a:ext cx="10382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B2630"/>
                </a:solidFill>
                <a:latin typeface="Arial"/>
                <a:ea typeface="Arial"/>
                <a:cs typeface="Arial"/>
              </a:defRPr>
            </a:pPr>
            <a:r>
              <a:rPr sz="1875" b="0">
                <a:solidFill>
                  <a:srgbClr val="1B2630"/>
                </a:solidFill>
                <a:latin typeface="Arial"/>
                <a:ea typeface="Arial"/>
                <a:cs typeface="Arial"/>
              </a:rPr>
              <a:t>Проверува само дали пристигнал валиден authorization code.</a:t>
            </a:r>
          </a:p>
        </p:txBody>
      </p:sp>
      <p:sp>
        <p:nvSpPr>
          <p:cNvPr id="7" name="boundary-result">
            <a:extLst xmlns:a="http://schemas.openxmlformats.org/drawingml/2006/main">
              <a:ext uri="{FF2B5EF4-FFF2-40B4-BE49-F238E27FC236}">
                <a16:creationId xmlns:a16="http://schemas.microsoft.com/office/drawing/2014/main" id="{9604A53C-4535-4D8B-997E-826664B4445B}"/>
              </a:ext>
            </a:extLst>
          </p:cNvPr>
          <p:cNvSpPr>
            <a:spLocks xmlns:a="http://schemas.openxmlformats.org/drawingml/2006/main" noGrp="1"/>
          </p:cNvSpPr>
          <p:nvPr/>
        </p:nvSpPr>
        <p:spPr>
          <a:xfrm xmlns:a="http://schemas.openxmlformats.org/drawingml/2006/main">
            <a:off x="733425" y="5076825"/>
            <a:ext cx="10287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42C3A"/>
                </a:solidFill>
                <a:latin typeface="Arial"/>
                <a:ea typeface="Arial"/>
                <a:cs typeface="Arial"/>
              </a:defRPr>
            </a:pPr>
            <a:r>
              <a:rPr sz="2250" b="1">
                <a:solidFill>
                  <a:srgbClr val="142C3A"/>
                </a:solidFill>
                <a:latin typeface="Arial"/>
                <a:ea typeface="Arial"/>
                <a:cs typeface="Arial"/>
              </a:rPr>
              <a:t>Кодот е валиден, но потекнува од сесијата на напаѓачот.</a:t>
            </a:r>
          </a:p>
        </p:txBody>
      </p:sp>
    </p:spTree>
    <p:extLst>
      <p:ext uri="{BB962C8B-B14F-4D97-AF65-F5344CB8AC3E}">
        <p14:creationId xmlns:p14="http://schemas.microsoft.com/office/powerpoint/2010/main" val="124368044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itle-5">
            <a:extLst xmlns:a="http://schemas.openxmlformats.org/drawingml/2006/main">
              <a:ext uri="{FF2B5EF4-FFF2-40B4-BE49-F238E27FC236}">
                <a16:creationId xmlns:a16="http://schemas.microsoft.com/office/drawing/2014/main" id="{6EB5EDC4-B2D5-4526-9873-792EA6DDD1FD}"/>
              </a:ext>
            </a:extLst>
          </p:cNvPr>
          <p:cNvSpPr>
            <a:spLocks xmlns:a="http://schemas.openxmlformats.org/drawingml/2006/main" noGrp="1"/>
          </p:cNvSpPr>
          <p:nvPr/>
        </p:nvSpPr>
        <p:spPr>
          <a:xfrm xmlns:a="http://schemas.openxmlformats.org/drawingml/2006/main">
            <a:off x="685800" y="438150"/>
            <a:ext cx="108204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42C3A"/>
                </a:solidFill>
                <a:latin typeface="Arial"/>
                <a:ea typeface="Arial"/>
                <a:cs typeface="Arial"/>
              </a:defRPr>
            </a:pPr>
            <a:r>
              <a:rPr sz="3150" b="1">
                <a:solidFill>
                  <a:srgbClr val="142C3A"/>
                </a:solidFill>
                <a:latin typeface="Arial"/>
                <a:ea typeface="Arial"/>
                <a:cs typeface="Arial"/>
              </a:rPr>
              <a:t>Локална OAuth лабораторија</a:t>
            </a:r>
          </a:p>
        </p:txBody>
      </p:sp>
      <p:sp>
        <p:nvSpPr>
          <p:cNvPr id="2" name="number-5">
            <a:extLst xmlns:a="http://schemas.openxmlformats.org/drawingml/2006/main">
              <a:ext uri="{FF2B5EF4-FFF2-40B4-BE49-F238E27FC236}">
                <a16:creationId xmlns:a16="http://schemas.microsoft.com/office/drawing/2014/main" id="{3B84DD8E-352C-4742-8238-CB005C2A2FF1}"/>
              </a:ext>
            </a:extLst>
          </p:cNvPr>
          <p:cNvSpPr>
            <a:spLocks xmlns:a="http://schemas.openxmlformats.org/drawingml/2006/main" noGrp="1"/>
          </p:cNvSpPr>
          <p:nvPr/>
        </p:nvSpPr>
        <p:spPr>
          <a:xfrm xmlns:a="http://schemas.openxmlformats.org/drawingml/2006/main">
            <a:off x="10991850" y="6305550"/>
            <a:ext cx="5143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52616B"/>
                </a:solidFill>
                <a:latin typeface="Arial"/>
                <a:ea typeface="Arial"/>
                <a:cs typeface="Arial"/>
              </a:defRPr>
            </a:pPr>
            <a:r>
              <a:rPr sz="1125" b="0">
                <a:solidFill>
                  <a:srgbClr val="52616B"/>
                </a:solidFill>
                <a:latin typeface="Arial"/>
                <a:ea typeface="Arial"/>
                <a:cs typeface="Arial"/>
              </a:rPr>
              <a:t>05</a:t>
            </a:r>
          </a:p>
        </p:txBody>
      </p:sp>
      <p:sp>
        <p:nvSpPr>
          <p:cNvPr id="3" name="lab-provider-title">
            <a:extLst xmlns:a="http://schemas.openxmlformats.org/drawingml/2006/main">
              <a:ext uri="{FF2B5EF4-FFF2-40B4-BE49-F238E27FC236}">
                <a16:creationId xmlns:a16="http://schemas.microsoft.com/office/drawing/2014/main" id="{9820DC2D-8CA3-45B4-B712-5CDB3FB6AAA8}"/>
              </a:ext>
            </a:extLst>
          </p:cNvPr>
          <p:cNvSpPr>
            <a:spLocks xmlns:a="http://schemas.openxmlformats.org/drawingml/2006/main" noGrp="1"/>
          </p:cNvSpPr>
          <p:nvPr/>
        </p:nvSpPr>
        <p:spPr>
          <a:xfrm xmlns:a="http://schemas.openxmlformats.org/drawingml/2006/main">
            <a:off x="733425" y="1581150"/>
            <a:ext cx="10191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87F86"/>
                </a:solidFill>
                <a:latin typeface="Arial"/>
                <a:ea typeface="Arial"/>
                <a:cs typeface="Arial"/>
              </a:defRPr>
            </a:pPr>
            <a:r>
              <a:rPr sz="2325" b="1">
                <a:solidFill>
                  <a:srgbClr val="087F86"/>
                </a:solidFill>
                <a:latin typeface="Arial"/>
                <a:ea typeface="Arial"/>
                <a:cs typeface="Arial"/>
              </a:rPr>
              <a:t>LabID :9000</a:t>
            </a:r>
          </a:p>
        </p:txBody>
      </p:sp>
      <p:sp>
        <p:nvSpPr>
          <p:cNvPr id="4" name="lab-provider-desc">
            <a:extLst xmlns:a="http://schemas.openxmlformats.org/drawingml/2006/main">
              <a:ext uri="{FF2B5EF4-FFF2-40B4-BE49-F238E27FC236}">
                <a16:creationId xmlns:a16="http://schemas.microsoft.com/office/drawing/2014/main" id="{5406FF1D-D4DB-42F5-8F1D-CA39EDC62600}"/>
              </a:ext>
            </a:extLst>
          </p:cNvPr>
          <p:cNvSpPr>
            <a:spLocks xmlns:a="http://schemas.openxmlformats.org/drawingml/2006/main" noGrp="1"/>
          </p:cNvSpPr>
          <p:nvPr/>
        </p:nvSpPr>
        <p:spPr>
          <a:xfrm xmlns:a="http://schemas.openxmlformats.org/drawingml/2006/main">
            <a:off x="733425" y="2047875"/>
            <a:ext cx="10382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B2630"/>
                </a:solidFill>
                <a:latin typeface="Arial"/>
                <a:ea typeface="Arial"/>
                <a:cs typeface="Arial"/>
              </a:defRPr>
            </a:pPr>
            <a:r>
              <a:rPr sz="1875" b="0">
                <a:solidFill>
                  <a:srgbClr val="1B2630"/>
                </a:solidFill>
                <a:latin typeface="Arial"/>
                <a:ea typeface="Arial"/>
                <a:cs typeface="Arial"/>
              </a:rPr>
              <a:t>Издава authorization code и access token.</a:t>
            </a:r>
          </a:p>
        </p:txBody>
      </p:sp>
      <p:sp>
        <p:nvSpPr>
          <p:cNvPr id="5" name="lab-client-title">
            <a:extLst xmlns:a="http://schemas.openxmlformats.org/drawingml/2006/main">
              <a:ext uri="{FF2B5EF4-FFF2-40B4-BE49-F238E27FC236}">
                <a16:creationId xmlns:a16="http://schemas.microsoft.com/office/drawing/2014/main" id="{30F19973-CE17-42B0-80A9-20B8FC7A4372}"/>
              </a:ext>
            </a:extLst>
          </p:cNvPr>
          <p:cNvSpPr>
            <a:spLocks xmlns:a="http://schemas.openxmlformats.org/drawingml/2006/main" noGrp="1"/>
          </p:cNvSpPr>
          <p:nvPr/>
        </p:nvSpPr>
        <p:spPr>
          <a:xfrm xmlns:a="http://schemas.openxmlformats.org/drawingml/2006/main">
            <a:off x="733425" y="2895600"/>
            <a:ext cx="10191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87F86"/>
                </a:solidFill>
                <a:latin typeface="Arial"/>
                <a:ea typeface="Arial"/>
                <a:cs typeface="Arial"/>
              </a:defRPr>
            </a:pPr>
            <a:r>
              <a:rPr sz="2325" b="1">
                <a:solidFill>
                  <a:srgbClr val="087F86"/>
                </a:solidFill>
                <a:latin typeface="Arial"/>
                <a:ea typeface="Arial"/>
                <a:cs typeface="Arial"/>
              </a:rPr>
              <a:t>OAuth Notes Client :8000</a:t>
            </a:r>
          </a:p>
        </p:txBody>
      </p:sp>
      <p:sp>
        <p:nvSpPr>
          <p:cNvPr id="6" name="lab-client-desc">
            <a:extLst xmlns:a="http://schemas.openxmlformats.org/drawingml/2006/main">
              <a:ext uri="{FF2B5EF4-FFF2-40B4-BE49-F238E27FC236}">
                <a16:creationId xmlns:a16="http://schemas.microsoft.com/office/drawing/2014/main" id="{8AF0EBCC-99B0-4292-8DF5-4F3CA85C7353}"/>
              </a:ext>
            </a:extLst>
          </p:cNvPr>
          <p:cNvSpPr>
            <a:spLocks xmlns:a="http://schemas.openxmlformats.org/drawingml/2006/main" noGrp="1"/>
          </p:cNvSpPr>
          <p:nvPr/>
        </p:nvSpPr>
        <p:spPr>
          <a:xfrm xmlns:a="http://schemas.openxmlformats.org/drawingml/2006/main">
            <a:off x="733425" y="3362325"/>
            <a:ext cx="10382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B2630"/>
                </a:solidFill>
                <a:latin typeface="Arial"/>
                <a:ea typeface="Arial"/>
                <a:cs typeface="Arial"/>
              </a:defRPr>
            </a:pPr>
            <a:r>
              <a:rPr sz="1875" b="0">
                <a:solidFill>
                  <a:srgbClr val="1B2630"/>
                </a:solidFill>
                <a:latin typeface="Arial"/>
                <a:ea typeface="Arial"/>
                <a:cs typeface="Arial"/>
              </a:rPr>
              <a:t>Има ранлив и заштитен callback.</a:t>
            </a:r>
          </a:p>
        </p:txBody>
      </p:sp>
      <p:sp>
        <p:nvSpPr>
          <p:cNvPr id="7" name="lab-attacker-title">
            <a:extLst xmlns:a="http://schemas.openxmlformats.org/drawingml/2006/main">
              <a:ext uri="{FF2B5EF4-FFF2-40B4-BE49-F238E27FC236}">
                <a16:creationId xmlns:a16="http://schemas.microsoft.com/office/drawing/2014/main" id="{F86BBDF9-73C1-4403-8C60-B30EF9F69AB9}"/>
              </a:ext>
            </a:extLst>
          </p:cNvPr>
          <p:cNvSpPr>
            <a:spLocks xmlns:a="http://schemas.openxmlformats.org/drawingml/2006/main" noGrp="1"/>
          </p:cNvSpPr>
          <p:nvPr/>
        </p:nvSpPr>
        <p:spPr>
          <a:xfrm xmlns:a="http://schemas.openxmlformats.org/drawingml/2006/main">
            <a:off x="733425" y="4210050"/>
            <a:ext cx="10191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87F86"/>
                </a:solidFill>
                <a:latin typeface="Arial"/>
                <a:ea typeface="Arial"/>
                <a:cs typeface="Arial"/>
              </a:defRPr>
            </a:pPr>
            <a:r>
              <a:rPr sz="2325" b="1">
                <a:solidFill>
                  <a:srgbClr val="087F86"/>
                </a:solidFill>
                <a:latin typeface="Arial"/>
                <a:ea typeface="Arial"/>
                <a:cs typeface="Arial"/>
              </a:rPr>
              <a:t>Attacker Site :7000</a:t>
            </a:r>
          </a:p>
        </p:txBody>
      </p:sp>
      <p:sp>
        <p:nvSpPr>
          <p:cNvPr id="8" name="lab-attacker-desc">
            <a:extLst xmlns:a="http://schemas.openxmlformats.org/drawingml/2006/main">
              <a:ext uri="{FF2B5EF4-FFF2-40B4-BE49-F238E27FC236}">
                <a16:creationId xmlns:a16="http://schemas.microsoft.com/office/drawing/2014/main" id="{8084189B-2690-4BB6-811C-3024F0031B03}"/>
              </a:ext>
            </a:extLst>
          </p:cNvPr>
          <p:cNvSpPr>
            <a:spLocks xmlns:a="http://schemas.openxmlformats.org/drawingml/2006/main" noGrp="1"/>
          </p:cNvSpPr>
          <p:nvPr/>
        </p:nvSpPr>
        <p:spPr>
          <a:xfrm xmlns:a="http://schemas.openxmlformats.org/drawingml/2006/main">
            <a:off x="733425" y="4676775"/>
            <a:ext cx="10382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B2630"/>
                </a:solidFill>
                <a:latin typeface="Arial"/>
                <a:ea typeface="Arial"/>
                <a:cs typeface="Arial"/>
              </a:defRPr>
            </a:pPr>
            <a:r>
              <a:rPr sz="1875" b="0">
                <a:solidFill>
                  <a:srgbClr val="1B2630"/>
                </a:solidFill>
                <a:latin typeface="Arial"/>
                <a:ea typeface="Arial"/>
                <a:cs typeface="Arial"/>
              </a:rPr>
              <a:t>Ја доставува врската до приватниот прозорец на жртвата.</a:t>
            </a:r>
          </a:p>
        </p:txBody>
      </p:sp>
      <p:sp>
        <p:nvSpPr>
          <p:cNvPr id="9" name="lab-scope">
            <a:extLst xmlns:a="http://schemas.openxmlformats.org/drawingml/2006/main">
              <a:ext uri="{FF2B5EF4-FFF2-40B4-BE49-F238E27FC236}">
                <a16:creationId xmlns:a16="http://schemas.microsoft.com/office/drawing/2014/main" id="{742D8EE9-55A7-4366-AF84-EC9FC956E358}"/>
              </a:ext>
            </a:extLst>
          </p:cNvPr>
          <p:cNvSpPr>
            <a:spLocks xmlns:a="http://schemas.openxmlformats.org/drawingml/2006/main" noGrp="1"/>
          </p:cNvSpPr>
          <p:nvPr/>
        </p:nvSpPr>
        <p:spPr>
          <a:xfrm xmlns:a="http://schemas.openxmlformats.org/drawingml/2006/main">
            <a:off x="733425" y="5781675"/>
            <a:ext cx="952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2616B"/>
                </a:solidFill>
                <a:latin typeface="Arial"/>
                <a:ea typeface="Arial"/>
                <a:cs typeface="Arial"/>
              </a:defRPr>
            </a:pPr>
            <a:r>
              <a:rPr sz="1650" b="0">
                <a:solidFill>
                  <a:srgbClr val="52616B"/>
                </a:solidFill>
                <a:latin typeface="Arial"/>
                <a:ea typeface="Arial"/>
                <a:cs typeface="Arial"/>
              </a:rPr>
              <a:t>Само локални тест-сметки и loopback порти.</a:t>
            </a:r>
          </a:p>
        </p:txBody>
      </p:sp>
    </p:spTree>
    <p:extLst>
      <p:ext uri="{BB962C8B-B14F-4D97-AF65-F5344CB8AC3E}">
        <p14:creationId xmlns:p14="http://schemas.microsoft.com/office/powerpoint/2010/main" val="112640816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title-6">
            <a:extLst xmlns:a="http://schemas.openxmlformats.org/drawingml/2006/main">
              <a:ext uri="{FF2B5EF4-FFF2-40B4-BE49-F238E27FC236}">
                <a16:creationId xmlns:a16="http://schemas.microsoft.com/office/drawing/2014/main" id="{DA8DA3DC-6F8E-4B88-9CE2-CE2C90791A4C}"/>
              </a:ext>
            </a:extLst>
          </p:cNvPr>
          <p:cNvSpPr>
            <a:spLocks xmlns:a="http://schemas.openxmlformats.org/drawingml/2006/main" noGrp="1"/>
          </p:cNvSpPr>
          <p:nvPr/>
        </p:nvSpPr>
        <p:spPr>
          <a:xfrm xmlns:a="http://schemas.openxmlformats.org/drawingml/2006/main">
            <a:off x="685800" y="438150"/>
            <a:ext cx="108204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42C3A"/>
                </a:solidFill>
                <a:latin typeface="Arial"/>
                <a:ea typeface="Arial"/>
                <a:cs typeface="Arial"/>
              </a:defRPr>
            </a:pPr>
            <a:r>
              <a:rPr sz="3150" b="1">
                <a:solidFill>
                  <a:srgbClr val="142C3A"/>
                </a:solidFill>
                <a:latin typeface="Arial"/>
                <a:ea typeface="Arial"/>
                <a:cs typeface="Arial"/>
              </a:rPr>
              <a:t>Репродукција на нападот</a:t>
            </a:r>
          </a:p>
        </p:txBody>
      </p:sp>
      <p:sp>
        <p:nvSpPr>
          <p:cNvPr id="2" name="number-6">
            <a:extLst xmlns:a="http://schemas.openxmlformats.org/drawingml/2006/main">
              <a:ext uri="{FF2B5EF4-FFF2-40B4-BE49-F238E27FC236}">
                <a16:creationId xmlns:a16="http://schemas.microsoft.com/office/drawing/2014/main" id="{B92679BD-40CA-4459-8B8C-C75F8366281A}"/>
              </a:ext>
            </a:extLst>
          </p:cNvPr>
          <p:cNvSpPr>
            <a:spLocks xmlns:a="http://schemas.openxmlformats.org/drawingml/2006/main" noGrp="1"/>
          </p:cNvSpPr>
          <p:nvPr/>
        </p:nvSpPr>
        <p:spPr>
          <a:xfrm xmlns:a="http://schemas.openxmlformats.org/drawingml/2006/main">
            <a:off x="10991850" y="6305550"/>
            <a:ext cx="5143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52616B"/>
                </a:solidFill>
                <a:latin typeface="Arial"/>
                <a:ea typeface="Arial"/>
                <a:cs typeface="Arial"/>
              </a:defRPr>
            </a:pPr>
            <a:r>
              <a:rPr sz="1125" b="0">
                <a:solidFill>
                  <a:srgbClr val="52616B"/>
                </a:solidFill>
                <a:latin typeface="Arial"/>
                <a:ea typeface="Arial"/>
                <a:cs typeface="Arial"/>
              </a:rPr>
              <a:t>06</a:t>
            </a:r>
          </a:p>
        </p:txBody>
      </p:sp>
      <p:sp>
        <p:nvSpPr>
          <p:cNvPr id="3" name="attack-flow-n-0">
            <a:extLst xmlns:a="http://schemas.openxmlformats.org/drawingml/2006/main">
              <a:ext uri="{FF2B5EF4-FFF2-40B4-BE49-F238E27FC236}">
                <a16:creationId xmlns:a16="http://schemas.microsoft.com/office/drawing/2014/main" id="{C2668932-CE77-4771-A669-C414F22FD07F}"/>
              </a:ext>
            </a:extLst>
          </p:cNvPr>
          <p:cNvSpPr>
            <a:spLocks xmlns:a="http://schemas.openxmlformats.org/drawingml/2006/main" noGrp="1"/>
          </p:cNvSpPr>
          <p:nvPr/>
        </p:nvSpPr>
        <p:spPr>
          <a:xfrm xmlns:a="http://schemas.openxmlformats.org/drawingml/2006/main">
            <a:off x="742950" y="1514475"/>
            <a:ext cx="714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87F86"/>
                </a:solidFill>
                <a:latin typeface="Arial"/>
                <a:ea typeface="Arial"/>
                <a:cs typeface="Arial"/>
              </a:defRPr>
            </a:pPr>
            <a:r>
              <a:rPr sz="2325" b="1">
                <a:solidFill>
                  <a:srgbClr val="087F86"/>
                </a:solidFill>
                <a:latin typeface="Arial"/>
                <a:ea typeface="Arial"/>
                <a:cs typeface="Arial"/>
              </a:rPr>
              <a:t>01</a:t>
            </a:r>
          </a:p>
        </p:txBody>
      </p:sp>
      <p:sp>
        <p:nvSpPr>
          <p:cNvPr id="4" name="attack-flow-text-0">
            <a:extLst xmlns:a="http://schemas.openxmlformats.org/drawingml/2006/main">
              <a:ext uri="{FF2B5EF4-FFF2-40B4-BE49-F238E27FC236}">
                <a16:creationId xmlns:a16="http://schemas.microsoft.com/office/drawing/2014/main" id="{7552F787-8558-4C2E-AC1F-43769D10F991}"/>
              </a:ext>
            </a:extLst>
          </p:cNvPr>
          <p:cNvSpPr>
            <a:spLocks xmlns:a="http://schemas.openxmlformats.org/drawingml/2006/main" noGrp="1"/>
          </p:cNvSpPr>
          <p:nvPr/>
        </p:nvSpPr>
        <p:spPr>
          <a:xfrm xmlns:a="http://schemas.openxmlformats.org/drawingml/2006/main">
            <a:off x="1619250" y="1533525"/>
            <a:ext cx="9620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B2630"/>
                </a:solidFill>
                <a:latin typeface="Arial"/>
                <a:ea typeface="Arial"/>
                <a:cs typeface="Arial"/>
              </a:defRPr>
            </a:pPr>
            <a:r>
              <a:rPr sz="1950" b="0">
                <a:solidFill>
                  <a:srgbClr val="1B2630"/>
                </a:solidFill>
                <a:latin typeface="Arial"/>
                <a:ea typeface="Arial"/>
                <a:cs typeface="Arial"/>
              </a:rPr>
              <a:t>Напаѓачот започнува OAuth најава за својата сметка.</a:t>
            </a:r>
          </a:p>
        </p:txBody>
      </p:sp>
      <p:sp>
        <p:nvSpPr>
          <p:cNvPr id="5" name="attack-flow-n-1">
            <a:extLst xmlns:a="http://schemas.openxmlformats.org/drawingml/2006/main">
              <a:ext uri="{FF2B5EF4-FFF2-40B4-BE49-F238E27FC236}">
                <a16:creationId xmlns:a16="http://schemas.microsoft.com/office/drawing/2014/main" id="{FF3B81A1-8839-4C0E-A493-EE70F846FCCB}"/>
              </a:ext>
            </a:extLst>
          </p:cNvPr>
          <p:cNvSpPr>
            <a:spLocks xmlns:a="http://schemas.openxmlformats.org/drawingml/2006/main" noGrp="1"/>
          </p:cNvSpPr>
          <p:nvPr/>
        </p:nvSpPr>
        <p:spPr>
          <a:xfrm xmlns:a="http://schemas.openxmlformats.org/drawingml/2006/main">
            <a:off x="742950" y="2381250"/>
            <a:ext cx="714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87F86"/>
                </a:solidFill>
                <a:latin typeface="Arial"/>
                <a:ea typeface="Arial"/>
                <a:cs typeface="Arial"/>
              </a:defRPr>
            </a:pPr>
            <a:r>
              <a:rPr sz="2325" b="1">
                <a:solidFill>
                  <a:srgbClr val="087F86"/>
                </a:solidFill>
                <a:latin typeface="Arial"/>
                <a:ea typeface="Arial"/>
                <a:cs typeface="Arial"/>
              </a:rPr>
              <a:t>02</a:t>
            </a:r>
          </a:p>
        </p:txBody>
      </p:sp>
      <p:sp>
        <p:nvSpPr>
          <p:cNvPr id="6" name="attack-flow-text-1">
            <a:extLst xmlns:a="http://schemas.openxmlformats.org/drawingml/2006/main">
              <a:ext uri="{FF2B5EF4-FFF2-40B4-BE49-F238E27FC236}">
                <a16:creationId xmlns:a16="http://schemas.microsoft.com/office/drawing/2014/main" id="{8FB77782-0E1A-4362-8D4B-FB5A1FFA8002}"/>
              </a:ext>
            </a:extLst>
          </p:cNvPr>
          <p:cNvSpPr>
            <a:spLocks xmlns:a="http://schemas.openxmlformats.org/drawingml/2006/main" noGrp="1"/>
          </p:cNvSpPr>
          <p:nvPr/>
        </p:nvSpPr>
        <p:spPr>
          <a:xfrm xmlns:a="http://schemas.openxmlformats.org/drawingml/2006/main">
            <a:off x="1619250" y="2400300"/>
            <a:ext cx="9620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B2630"/>
                </a:solidFill>
                <a:latin typeface="Arial"/>
                <a:ea typeface="Arial"/>
                <a:cs typeface="Arial"/>
              </a:defRPr>
            </a:pPr>
            <a:r>
              <a:rPr sz="1950" b="0">
                <a:solidFill>
                  <a:srgbClr val="1B2630"/>
                </a:solidFill>
                <a:latin typeface="Arial"/>
                <a:ea typeface="Arial"/>
                <a:cs typeface="Arial"/>
              </a:rPr>
              <a:t>Lab capture го прикажува callback URL-от со code.</a:t>
            </a:r>
          </a:p>
        </p:txBody>
      </p:sp>
      <p:sp>
        <p:nvSpPr>
          <p:cNvPr id="7" name="attack-flow-n-2">
            <a:extLst xmlns:a="http://schemas.openxmlformats.org/drawingml/2006/main">
              <a:ext uri="{FF2B5EF4-FFF2-40B4-BE49-F238E27FC236}">
                <a16:creationId xmlns:a16="http://schemas.microsoft.com/office/drawing/2014/main" id="{26C2A4F5-7643-4BA3-8B2A-5BB4974C923D}"/>
              </a:ext>
            </a:extLst>
          </p:cNvPr>
          <p:cNvSpPr>
            <a:spLocks xmlns:a="http://schemas.openxmlformats.org/drawingml/2006/main" noGrp="1"/>
          </p:cNvSpPr>
          <p:nvPr/>
        </p:nvSpPr>
        <p:spPr>
          <a:xfrm xmlns:a="http://schemas.openxmlformats.org/drawingml/2006/main">
            <a:off x="742950" y="3248025"/>
            <a:ext cx="714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87F86"/>
                </a:solidFill>
                <a:latin typeface="Arial"/>
                <a:ea typeface="Arial"/>
                <a:cs typeface="Arial"/>
              </a:defRPr>
            </a:pPr>
            <a:r>
              <a:rPr sz="2325" b="1">
                <a:solidFill>
                  <a:srgbClr val="087F86"/>
                </a:solidFill>
                <a:latin typeface="Arial"/>
                <a:ea typeface="Arial"/>
                <a:cs typeface="Arial"/>
              </a:rPr>
              <a:t>03</a:t>
            </a:r>
          </a:p>
        </p:txBody>
      </p:sp>
      <p:sp>
        <p:nvSpPr>
          <p:cNvPr id="8" name="attack-flow-text-2">
            <a:extLst xmlns:a="http://schemas.openxmlformats.org/drawingml/2006/main">
              <a:ext uri="{FF2B5EF4-FFF2-40B4-BE49-F238E27FC236}">
                <a16:creationId xmlns:a16="http://schemas.microsoft.com/office/drawing/2014/main" id="{E3436EAD-B10A-43CD-A01F-41BC593B2634}"/>
              </a:ext>
            </a:extLst>
          </p:cNvPr>
          <p:cNvSpPr>
            <a:spLocks xmlns:a="http://schemas.openxmlformats.org/drawingml/2006/main" noGrp="1"/>
          </p:cNvSpPr>
          <p:nvPr/>
        </p:nvSpPr>
        <p:spPr>
          <a:xfrm xmlns:a="http://schemas.openxmlformats.org/drawingml/2006/main">
            <a:off x="1619250" y="3267075"/>
            <a:ext cx="9620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B2630"/>
                </a:solidFill>
                <a:latin typeface="Arial"/>
                <a:ea typeface="Arial"/>
                <a:cs typeface="Arial"/>
              </a:defRPr>
            </a:pPr>
            <a:r>
              <a:rPr sz="1950" b="0">
                <a:solidFill>
                  <a:srgbClr val="1B2630"/>
                </a:solidFill>
                <a:latin typeface="Arial"/>
                <a:ea typeface="Arial"/>
                <a:cs typeface="Arial"/>
              </a:rPr>
              <a:t>Attacker Site подготвува врска со тој URL.</a:t>
            </a:r>
          </a:p>
        </p:txBody>
      </p:sp>
      <p:sp>
        <p:nvSpPr>
          <p:cNvPr id="9" name="attack-flow-n-3">
            <a:extLst xmlns:a="http://schemas.openxmlformats.org/drawingml/2006/main">
              <a:ext uri="{FF2B5EF4-FFF2-40B4-BE49-F238E27FC236}">
                <a16:creationId xmlns:a16="http://schemas.microsoft.com/office/drawing/2014/main" id="{19E2C1FB-7926-433C-9A43-C37CC1E13B71}"/>
              </a:ext>
            </a:extLst>
          </p:cNvPr>
          <p:cNvSpPr>
            <a:spLocks xmlns:a="http://schemas.openxmlformats.org/drawingml/2006/main" noGrp="1"/>
          </p:cNvSpPr>
          <p:nvPr/>
        </p:nvSpPr>
        <p:spPr>
          <a:xfrm xmlns:a="http://schemas.openxmlformats.org/drawingml/2006/main">
            <a:off x="742950" y="4114800"/>
            <a:ext cx="714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87F86"/>
                </a:solidFill>
                <a:latin typeface="Arial"/>
                <a:ea typeface="Arial"/>
                <a:cs typeface="Arial"/>
              </a:defRPr>
            </a:pPr>
            <a:r>
              <a:rPr sz="2325" b="1">
                <a:solidFill>
                  <a:srgbClr val="087F86"/>
                </a:solidFill>
                <a:latin typeface="Arial"/>
                <a:ea typeface="Arial"/>
                <a:cs typeface="Arial"/>
              </a:rPr>
              <a:t>04</a:t>
            </a:r>
          </a:p>
        </p:txBody>
      </p:sp>
      <p:sp>
        <p:nvSpPr>
          <p:cNvPr id="10" name="attack-flow-text-3">
            <a:extLst xmlns:a="http://schemas.openxmlformats.org/drawingml/2006/main">
              <a:ext uri="{FF2B5EF4-FFF2-40B4-BE49-F238E27FC236}">
                <a16:creationId xmlns:a16="http://schemas.microsoft.com/office/drawing/2014/main" id="{258D69DE-49E8-4D78-AA79-616E5E9AC430}"/>
              </a:ext>
            </a:extLst>
          </p:cNvPr>
          <p:cNvSpPr>
            <a:spLocks xmlns:a="http://schemas.openxmlformats.org/drawingml/2006/main" noGrp="1"/>
          </p:cNvSpPr>
          <p:nvPr/>
        </p:nvSpPr>
        <p:spPr>
          <a:xfrm xmlns:a="http://schemas.openxmlformats.org/drawingml/2006/main">
            <a:off x="1619250" y="4133850"/>
            <a:ext cx="9620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B2630"/>
                </a:solidFill>
                <a:latin typeface="Arial"/>
                <a:ea typeface="Arial"/>
                <a:cs typeface="Arial"/>
              </a:defRPr>
            </a:pPr>
            <a:r>
              <a:rPr sz="1950" b="0">
                <a:solidFill>
                  <a:srgbClr val="1B2630"/>
                </a:solidFill>
                <a:latin typeface="Arial"/>
                <a:ea typeface="Arial"/>
                <a:cs typeface="Arial"/>
              </a:rPr>
              <a:t>Жртвата ја отвора врската во приватен прозорец.</a:t>
            </a:r>
          </a:p>
        </p:txBody>
      </p:sp>
      <p:sp>
        <p:nvSpPr>
          <p:cNvPr id="11" name="attack-flow-n-4">
            <a:extLst xmlns:a="http://schemas.openxmlformats.org/drawingml/2006/main">
              <a:ext uri="{FF2B5EF4-FFF2-40B4-BE49-F238E27FC236}">
                <a16:creationId xmlns:a16="http://schemas.microsoft.com/office/drawing/2014/main" id="{35BD49D4-8A13-480A-923D-6FD8E7CF1190}"/>
              </a:ext>
            </a:extLst>
          </p:cNvPr>
          <p:cNvSpPr>
            <a:spLocks xmlns:a="http://schemas.openxmlformats.org/drawingml/2006/main" noGrp="1"/>
          </p:cNvSpPr>
          <p:nvPr/>
        </p:nvSpPr>
        <p:spPr>
          <a:xfrm xmlns:a="http://schemas.openxmlformats.org/drawingml/2006/main">
            <a:off x="742950" y="4981575"/>
            <a:ext cx="714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87F86"/>
                </a:solidFill>
                <a:latin typeface="Arial"/>
                <a:ea typeface="Arial"/>
                <a:cs typeface="Arial"/>
              </a:defRPr>
            </a:pPr>
            <a:r>
              <a:rPr sz="2325" b="1">
                <a:solidFill>
                  <a:srgbClr val="087F86"/>
                </a:solidFill>
                <a:latin typeface="Arial"/>
                <a:ea typeface="Arial"/>
                <a:cs typeface="Arial"/>
              </a:rPr>
              <a:t>05</a:t>
            </a:r>
          </a:p>
        </p:txBody>
      </p:sp>
      <p:sp>
        <p:nvSpPr>
          <p:cNvPr id="12" name="attack-flow-text-4">
            <a:extLst xmlns:a="http://schemas.openxmlformats.org/drawingml/2006/main">
              <a:ext uri="{FF2B5EF4-FFF2-40B4-BE49-F238E27FC236}">
                <a16:creationId xmlns:a16="http://schemas.microsoft.com/office/drawing/2014/main" id="{23552A4B-8DBD-4A72-9F5D-3C93CB766A3D}"/>
              </a:ext>
            </a:extLst>
          </p:cNvPr>
          <p:cNvSpPr>
            <a:spLocks xmlns:a="http://schemas.openxmlformats.org/drawingml/2006/main" noGrp="1"/>
          </p:cNvSpPr>
          <p:nvPr/>
        </p:nvSpPr>
        <p:spPr>
          <a:xfrm xmlns:a="http://schemas.openxmlformats.org/drawingml/2006/main">
            <a:off x="1619250" y="5000625"/>
            <a:ext cx="9620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B2630"/>
                </a:solidFill>
                <a:latin typeface="Arial"/>
                <a:ea typeface="Arial"/>
                <a:cs typeface="Arial"/>
              </a:defRPr>
            </a:pPr>
            <a:r>
              <a:rPr sz="1950" b="0">
                <a:solidFill>
                  <a:srgbClr val="1B2630"/>
                </a:solidFill>
                <a:latin typeface="Arial"/>
                <a:ea typeface="Arial"/>
                <a:cs typeface="Arial"/>
              </a:rPr>
              <a:t>Клиентот создава сесија како Алекс Напаѓач.</a:t>
            </a:r>
          </a:p>
        </p:txBody>
      </p:sp>
    </p:spTree>
    <p:extLst>
      <p:ext uri="{BB962C8B-B14F-4D97-AF65-F5344CB8AC3E}">
        <p14:creationId xmlns:p14="http://schemas.microsoft.com/office/powerpoint/2010/main" val="18943898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itle-7">
            <a:extLst xmlns:a="http://schemas.openxmlformats.org/drawingml/2006/main">
              <a:ext uri="{FF2B5EF4-FFF2-40B4-BE49-F238E27FC236}">
                <a16:creationId xmlns:a16="http://schemas.microsoft.com/office/drawing/2014/main" id="{D0F40121-FB25-4646-B406-7A9172E4C395}"/>
              </a:ext>
            </a:extLst>
          </p:cNvPr>
          <p:cNvSpPr>
            <a:spLocks xmlns:a="http://schemas.openxmlformats.org/drawingml/2006/main" noGrp="1"/>
          </p:cNvSpPr>
          <p:nvPr/>
        </p:nvSpPr>
        <p:spPr>
          <a:xfrm xmlns:a="http://schemas.openxmlformats.org/drawingml/2006/main">
            <a:off x="685800" y="438150"/>
            <a:ext cx="108204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42C3A"/>
                </a:solidFill>
                <a:latin typeface="Arial"/>
                <a:ea typeface="Arial"/>
                <a:cs typeface="Arial"/>
              </a:defRPr>
            </a:pPr>
            <a:r>
              <a:rPr sz="3150" b="1">
                <a:solidFill>
                  <a:srgbClr val="142C3A"/>
                </a:solidFill>
                <a:latin typeface="Arial"/>
                <a:ea typeface="Arial"/>
                <a:cs typeface="Arial"/>
              </a:rPr>
              <a:t>OAuth резултат и влијание</a:t>
            </a:r>
          </a:p>
        </p:txBody>
      </p:sp>
      <p:sp>
        <p:nvSpPr>
          <p:cNvPr id="2" name="number-7">
            <a:extLst xmlns:a="http://schemas.openxmlformats.org/drawingml/2006/main">
              <a:ext uri="{FF2B5EF4-FFF2-40B4-BE49-F238E27FC236}">
                <a16:creationId xmlns:a16="http://schemas.microsoft.com/office/drawing/2014/main" id="{33C04C17-2886-4964-81F5-6522C4DF3B6F}"/>
              </a:ext>
            </a:extLst>
          </p:cNvPr>
          <p:cNvSpPr>
            <a:spLocks xmlns:a="http://schemas.openxmlformats.org/drawingml/2006/main" noGrp="1"/>
          </p:cNvSpPr>
          <p:nvPr/>
        </p:nvSpPr>
        <p:spPr>
          <a:xfrm xmlns:a="http://schemas.openxmlformats.org/drawingml/2006/main">
            <a:off x="10991850" y="6305550"/>
            <a:ext cx="5143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52616B"/>
                </a:solidFill>
                <a:latin typeface="Arial"/>
                <a:ea typeface="Arial"/>
                <a:cs typeface="Arial"/>
              </a:defRPr>
            </a:pPr>
            <a:r>
              <a:rPr sz="1125" b="0">
                <a:solidFill>
                  <a:srgbClr val="52616B"/>
                </a:solidFill>
                <a:latin typeface="Arial"/>
                <a:ea typeface="Arial"/>
                <a:cs typeface="Arial"/>
              </a:rPr>
              <a:t>07</a:t>
            </a:r>
          </a:p>
        </p:txBody>
      </p:sp>
      <p:sp>
        <p:nvSpPr>
          <p:cNvPr id="3" name="result-vulnerable-title">
            <a:extLst xmlns:a="http://schemas.openxmlformats.org/drawingml/2006/main">
              <a:ext uri="{FF2B5EF4-FFF2-40B4-BE49-F238E27FC236}">
                <a16:creationId xmlns:a16="http://schemas.microsoft.com/office/drawing/2014/main" id="{AEC2AA25-6DB5-43DF-8F03-89B624F28253}"/>
              </a:ext>
            </a:extLst>
          </p:cNvPr>
          <p:cNvSpPr>
            <a:spLocks xmlns:a="http://schemas.openxmlformats.org/drawingml/2006/main" noGrp="1"/>
          </p:cNvSpPr>
          <p:nvPr/>
        </p:nvSpPr>
        <p:spPr>
          <a:xfrm xmlns:a="http://schemas.openxmlformats.org/drawingml/2006/main">
            <a:off x="733425" y="1571625"/>
            <a:ext cx="10191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B5403A"/>
                </a:solidFill>
                <a:latin typeface="Arial"/>
                <a:ea typeface="Arial"/>
                <a:cs typeface="Arial"/>
              </a:defRPr>
            </a:pPr>
            <a:r>
              <a:rPr sz="2325" b="1">
                <a:solidFill>
                  <a:srgbClr val="B5403A"/>
                </a:solidFill>
                <a:latin typeface="Arial"/>
                <a:ea typeface="Arial"/>
                <a:cs typeface="Arial"/>
              </a:rPr>
              <a:t>Ранлив callback: HTTP 200</a:t>
            </a:r>
          </a:p>
        </p:txBody>
      </p:sp>
      <p:sp>
        <p:nvSpPr>
          <p:cNvPr id="4" name="result-vulnerable-desc">
            <a:extLst xmlns:a="http://schemas.openxmlformats.org/drawingml/2006/main">
              <a:ext uri="{FF2B5EF4-FFF2-40B4-BE49-F238E27FC236}">
                <a16:creationId xmlns:a16="http://schemas.microsoft.com/office/drawing/2014/main" id="{E44AAF83-F0BB-432F-BE4B-86CA570537BA}"/>
              </a:ext>
            </a:extLst>
          </p:cNvPr>
          <p:cNvSpPr>
            <a:spLocks xmlns:a="http://schemas.openxmlformats.org/drawingml/2006/main" noGrp="1"/>
          </p:cNvSpPr>
          <p:nvPr/>
        </p:nvSpPr>
        <p:spPr>
          <a:xfrm xmlns:a="http://schemas.openxmlformats.org/drawingml/2006/main">
            <a:off x="733425" y="2038350"/>
            <a:ext cx="10382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B2630"/>
                </a:solidFill>
                <a:latin typeface="Arial"/>
                <a:ea typeface="Arial"/>
                <a:cs typeface="Arial"/>
              </a:defRPr>
            </a:pPr>
            <a:r>
              <a:rPr sz="1875" b="0">
                <a:solidFill>
                  <a:srgbClr val="1B2630"/>
                </a:solidFill>
                <a:latin typeface="Arial"/>
                <a:ea typeface="Arial"/>
                <a:cs typeface="Arial"/>
              </a:rPr>
              <a:t>Во прелистувачот на жртвата се појавува Алекс Напаѓач.</a:t>
            </a:r>
          </a:p>
        </p:txBody>
      </p:sp>
      <p:sp>
        <p:nvSpPr>
          <p:cNvPr id="5" name="result-impact-title">
            <a:extLst xmlns:a="http://schemas.openxmlformats.org/drawingml/2006/main">
              <a:ext uri="{FF2B5EF4-FFF2-40B4-BE49-F238E27FC236}">
                <a16:creationId xmlns:a16="http://schemas.microsoft.com/office/drawing/2014/main" id="{0B815470-8DB7-4BA2-8AF0-6EA1DFE03FEF}"/>
              </a:ext>
            </a:extLst>
          </p:cNvPr>
          <p:cNvSpPr>
            <a:spLocks xmlns:a="http://schemas.openxmlformats.org/drawingml/2006/main" noGrp="1"/>
          </p:cNvSpPr>
          <p:nvPr/>
        </p:nvSpPr>
        <p:spPr>
          <a:xfrm xmlns:a="http://schemas.openxmlformats.org/drawingml/2006/main">
            <a:off x="733425" y="3057525"/>
            <a:ext cx="10191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B5403A"/>
                </a:solidFill>
                <a:latin typeface="Arial"/>
                <a:ea typeface="Arial"/>
                <a:cs typeface="Arial"/>
              </a:defRPr>
            </a:pPr>
            <a:r>
              <a:rPr sz="2325" b="1">
                <a:solidFill>
                  <a:srgbClr val="B5403A"/>
                </a:solidFill>
                <a:latin typeface="Arial"/>
                <a:ea typeface="Arial"/>
                <a:cs typeface="Arial"/>
              </a:rPr>
              <a:t>Практично влијание</a:t>
            </a:r>
          </a:p>
        </p:txBody>
      </p:sp>
      <p:sp>
        <p:nvSpPr>
          <p:cNvPr id="6" name="result-impact-desc">
            <a:extLst xmlns:a="http://schemas.openxmlformats.org/drawingml/2006/main">
              <a:ext uri="{FF2B5EF4-FFF2-40B4-BE49-F238E27FC236}">
                <a16:creationId xmlns:a16="http://schemas.microsoft.com/office/drawing/2014/main" id="{F70C7F2A-3BE0-409E-A477-6B832AAA7829}"/>
              </a:ext>
            </a:extLst>
          </p:cNvPr>
          <p:cNvSpPr>
            <a:spLocks xmlns:a="http://schemas.openxmlformats.org/drawingml/2006/main" noGrp="1"/>
          </p:cNvSpPr>
          <p:nvPr/>
        </p:nvSpPr>
        <p:spPr>
          <a:xfrm xmlns:a="http://schemas.openxmlformats.org/drawingml/2006/main">
            <a:off x="733425" y="3524250"/>
            <a:ext cx="10382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B2630"/>
                </a:solidFill>
                <a:latin typeface="Arial"/>
                <a:ea typeface="Arial"/>
                <a:cs typeface="Arial"/>
              </a:defRPr>
            </a:pPr>
            <a:r>
              <a:rPr sz="1875" b="0">
                <a:solidFill>
                  <a:srgbClr val="1B2630"/>
                </a:solidFill>
                <a:latin typeface="Arial"/>
                <a:ea typeface="Arial"/>
                <a:cs typeface="Arial"/>
              </a:rPr>
              <a:t>Белешката внесена од жртвата се чита во сметката на напаѓачот.</a:t>
            </a:r>
          </a:p>
        </p:txBody>
      </p:sp>
      <p:sp>
        <p:nvSpPr>
          <p:cNvPr id="7" name="result-protected-title">
            <a:extLst xmlns:a="http://schemas.openxmlformats.org/drawingml/2006/main">
              <a:ext uri="{FF2B5EF4-FFF2-40B4-BE49-F238E27FC236}">
                <a16:creationId xmlns:a16="http://schemas.microsoft.com/office/drawing/2014/main" id="{5B82C18E-59ED-41CA-B713-6BF13677DD10}"/>
              </a:ext>
            </a:extLst>
          </p:cNvPr>
          <p:cNvSpPr>
            <a:spLocks xmlns:a="http://schemas.openxmlformats.org/drawingml/2006/main" noGrp="1"/>
          </p:cNvSpPr>
          <p:nvPr/>
        </p:nvSpPr>
        <p:spPr>
          <a:xfrm xmlns:a="http://schemas.openxmlformats.org/drawingml/2006/main">
            <a:off x="733425" y="4543425"/>
            <a:ext cx="10191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97157"/>
                </a:solidFill>
                <a:latin typeface="Arial"/>
                <a:ea typeface="Arial"/>
                <a:cs typeface="Arial"/>
              </a:defRPr>
            </a:pPr>
            <a:r>
              <a:rPr sz="2325" b="1">
                <a:solidFill>
                  <a:srgbClr val="197157"/>
                </a:solidFill>
                <a:latin typeface="Arial"/>
                <a:ea typeface="Arial"/>
                <a:cs typeface="Arial"/>
              </a:rPr>
              <a:t>Заштитен callback: HTTP 403</a:t>
            </a:r>
          </a:p>
        </p:txBody>
      </p:sp>
      <p:sp>
        <p:nvSpPr>
          <p:cNvPr id="8" name="result-protected-desc">
            <a:extLst xmlns:a="http://schemas.openxmlformats.org/drawingml/2006/main">
              <a:ext uri="{FF2B5EF4-FFF2-40B4-BE49-F238E27FC236}">
                <a16:creationId xmlns:a16="http://schemas.microsoft.com/office/drawing/2014/main" id="{B54B5769-3250-49F6-BE1E-A3E2B01DEF3E}"/>
              </a:ext>
            </a:extLst>
          </p:cNvPr>
          <p:cNvSpPr>
            <a:spLocks xmlns:a="http://schemas.openxmlformats.org/drawingml/2006/main" noGrp="1"/>
          </p:cNvSpPr>
          <p:nvPr/>
        </p:nvSpPr>
        <p:spPr>
          <a:xfrm xmlns:a="http://schemas.openxmlformats.org/drawingml/2006/main">
            <a:off x="733425" y="5010150"/>
            <a:ext cx="10382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B2630"/>
                </a:solidFill>
                <a:latin typeface="Arial"/>
                <a:ea typeface="Arial"/>
                <a:cs typeface="Arial"/>
              </a:defRPr>
            </a:pPr>
            <a:r>
              <a:rPr sz="1875" b="0">
                <a:solidFill>
                  <a:srgbClr val="1B2630"/>
                </a:solidFill>
                <a:latin typeface="Arial"/>
                <a:ea typeface="Arial"/>
                <a:cs typeface="Arial"/>
              </a:rPr>
              <a:t>Туѓиот OAuth одговор е одбиен пред размена на code.</a:t>
            </a:r>
          </a:p>
        </p:txBody>
      </p:sp>
    </p:spTree>
    <p:extLst>
      <p:ext uri="{BB962C8B-B14F-4D97-AF65-F5344CB8AC3E}">
        <p14:creationId xmlns:p14="http://schemas.microsoft.com/office/powerpoint/2010/main" val="132770510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title-8">
            <a:extLst xmlns:a="http://schemas.openxmlformats.org/drawingml/2006/main">
              <a:ext uri="{FF2B5EF4-FFF2-40B4-BE49-F238E27FC236}">
                <a16:creationId xmlns:a16="http://schemas.microsoft.com/office/drawing/2014/main" id="{41A18F1B-BE43-4EEC-BB90-39FB2CDE6F7D}"/>
              </a:ext>
            </a:extLst>
          </p:cNvPr>
          <p:cNvSpPr>
            <a:spLocks xmlns:a="http://schemas.openxmlformats.org/drawingml/2006/main" noGrp="1"/>
          </p:cNvSpPr>
          <p:nvPr/>
        </p:nvSpPr>
        <p:spPr>
          <a:xfrm xmlns:a="http://schemas.openxmlformats.org/drawingml/2006/main">
            <a:off x="685800" y="438150"/>
            <a:ext cx="108204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42C3A"/>
                </a:solidFill>
                <a:latin typeface="Arial"/>
                <a:ea typeface="Arial"/>
                <a:cs typeface="Arial"/>
              </a:defRPr>
            </a:pPr>
            <a:r>
              <a:rPr sz="3150" b="1">
                <a:solidFill>
                  <a:srgbClr val="142C3A"/>
                </a:solidFill>
                <a:latin typeface="Arial"/>
                <a:ea typeface="Arial"/>
                <a:cs typeface="Arial"/>
              </a:rPr>
              <a:t>OAuth заштита</a:t>
            </a:r>
          </a:p>
        </p:txBody>
      </p:sp>
      <p:sp>
        <p:nvSpPr>
          <p:cNvPr id="2" name="number-8">
            <a:extLst xmlns:a="http://schemas.openxmlformats.org/drawingml/2006/main">
              <a:ext uri="{FF2B5EF4-FFF2-40B4-BE49-F238E27FC236}">
                <a16:creationId xmlns:a16="http://schemas.microsoft.com/office/drawing/2014/main" id="{B50F4829-0AD2-4579-A11B-C808BE30316A}"/>
              </a:ext>
            </a:extLst>
          </p:cNvPr>
          <p:cNvSpPr>
            <a:spLocks xmlns:a="http://schemas.openxmlformats.org/drawingml/2006/main" noGrp="1"/>
          </p:cNvSpPr>
          <p:nvPr/>
        </p:nvSpPr>
        <p:spPr>
          <a:xfrm xmlns:a="http://schemas.openxmlformats.org/drawingml/2006/main">
            <a:off x="10991850" y="6305550"/>
            <a:ext cx="5143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52616B"/>
                </a:solidFill>
                <a:latin typeface="Arial"/>
                <a:ea typeface="Arial"/>
                <a:cs typeface="Arial"/>
              </a:defRPr>
            </a:pPr>
            <a:r>
              <a:rPr sz="1125" b="0">
                <a:solidFill>
                  <a:srgbClr val="52616B"/>
                </a:solidFill>
                <a:latin typeface="Arial"/>
                <a:ea typeface="Arial"/>
                <a:cs typeface="Arial"/>
              </a:rPr>
              <a:t>08</a:t>
            </a:r>
          </a:p>
        </p:txBody>
      </p:sp>
      <p:sp>
        <p:nvSpPr>
          <p:cNvPr id="3" name="state-defense-n-0">
            <a:extLst xmlns:a="http://schemas.openxmlformats.org/drawingml/2006/main">
              <a:ext uri="{FF2B5EF4-FFF2-40B4-BE49-F238E27FC236}">
                <a16:creationId xmlns:a16="http://schemas.microsoft.com/office/drawing/2014/main" id="{1FCFB6B3-D4E8-4051-9513-FAF7D62A33D4}"/>
              </a:ext>
            </a:extLst>
          </p:cNvPr>
          <p:cNvSpPr>
            <a:spLocks xmlns:a="http://schemas.openxmlformats.org/drawingml/2006/main" noGrp="1"/>
          </p:cNvSpPr>
          <p:nvPr/>
        </p:nvSpPr>
        <p:spPr>
          <a:xfrm xmlns:a="http://schemas.openxmlformats.org/drawingml/2006/main">
            <a:off x="742950" y="1571625"/>
            <a:ext cx="714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87F86"/>
                </a:solidFill>
                <a:latin typeface="Arial"/>
                <a:ea typeface="Arial"/>
                <a:cs typeface="Arial"/>
              </a:defRPr>
            </a:pPr>
            <a:r>
              <a:rPr sz="2325" b="1">
                <a:solidFill>
                  <a:srgbClr val="087F86"/>
                </a:solidFill>
                <a:latin typeface="Arial"/>
                <a:ea typeface="Arial"/>
                <a:cs typeface="Arial"/>
              </a:rPr>
              <a:t>01</a:t>
            </a:r>
          </a:p>
        </p:txBody>
      </p:sp>
      <p:sp>
        <p:nvSpPr>
          <p:cNvPr id="4" name="state-defense-text-0">
            <a:extLst xmlns:a="http://schemas.openxmlformats.org/drawingml/2006/main">
              <a:ext uri="{FF2B5EF4-FFF2-40B4-BE49-F238E27FC236}">
                <a16:creationId xmlns:a16="http://schemas.microsoft.com/office/drawing/2014/main" id="{A5AE6D39-D64C-42A5-A5DB-78392B667E6D}"/>
              </a:ext>
            </a:extLst>
          </p:cNvPr>
          <p:cNvSpPr>
            <a:spLocks xmlns:a="http://schemas.openxmlformats.org/drawingml/2006/main" noGrp="1"/>
          </p:cNvSpPr>
          <p:nvPr/>
        </p:nvSpPr>
        <p:spPr>
          <a:xfrm xmlns:a="http://schemas.openxmlformats.org/drawingml/2006/main">
            <a:off x="1619250" y="1590675"/>
            <a:ext cx="9620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B2630"/>
                </a:solidFill>
                <a:latin typeface="Arial"/>
                <a:ea typeface="Arial"/>
                <a:cs typeface="Arial"/>
              </a:defRPr>
            </a:pPr>
            <a:r>
              <a:rPr sz="2025" b="0">
                <a:solidFill>
                  <a:srgbClr val="1B2630"/>
                </a:solidFill>
                <a:latin typeface="Arial"/>
                <a:ea typeface="Arial"/>
                <a:cs typeface="Arial"/>
              </a:rPr>
              <a:t>Создај случаен state пред пренасочувањето.</a:t>
            </a:r>
          </a:p>
        </p:txBody>
      </p:sp>
      <p:sp>
        <p:nvSpPr>
          <p:cNvPr id="5" name="state-defense-n-1">
            <a:extLst xmlns:a="http://schemas.openxmlformats.org/drawingml/2006/main">
              <a:ext uri="{FF2B5EF4-FFF2-40B4-BE49-F238E27FC236}">
                <a16:creationId xmlns:a16="http://schemas.microsoft.com/office/drawing/2014/main" id="{7D117D59-FD20-4D98-A24A-80754DE25761}"/>
              </a:ext>
            </a:extLst>
          </p:cNvPr>
          <p:cNvSpPr>
            <a:spLocks xmlns:a="http://schemas.openxmlformats.org/drawingml/2006/main" noGrp="1"/>
          </p:cNvSpPr>
          <p:nvPr/>
        </p:nvSpPr>
        <p:spPr>
          <a:xfrm xmlns:a="http://schemas.openxmlformats.org/drawingml/2006/main">
            <a:off x="742950" y="2514600"/>
            <a:ext cx="714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87F86"/>
                </a:solidFill>
                <a:latin typeface="Arial"/>
                <a:ea typeface="Arial"/>
                <a:cs typeface="Arial"/>
              </a:defRPr>
            </a:pPr>
            <a:r>
              <a:rPr sz="2325" b="1">
                <a:solidFill>
                  <a:srgbClr val="087F86"/>
                </a:solidFill>
                <a:latin typeface="Arial"/>
                <a:ea typeface="Arial"/>
                <a:cs typeface="Arial"/>
              </a:rPr>
              <a:t>02</a:t>
            </a:r>
          </a:p>
        </p:txBody>
      </p:sp>
      <p:sp>
        <p:nvSpPr>
          <p:cNvPr id="6" name="state-defense-text-1">
            <a:extLst xmlns:a="http://schemas.openxmlformats.org/drawingml/2006/main">
              <a:ext uri="{FF2B5EF4-FFF2-40B4-BE49-F238E27FC236}">
                <a16:creationId xmlns:a16="http://schemas.microsoft.com/office/drawing/2014/main" id="{49FABEAE-4D4F-461F-8172-F2878AC7F54C}"/>
              </a:ext>
            </a:extLst>
          </p:cNvPr>
          <p:cNvSpPr>
            <a:spLocks xmlns:a="http://schemas.openxmlformats.org/drawingml/2006/main" noGrp="1"/>
          </p:cNvSpPr>
          <p:nvPr/>
        </p:nvSpPr>
        <p:spPr>
          <a:xfrm xmlns:a="http://schemas.openxmlformats.org/drawingml/2006/main">
            <a:off x="1619250" y="2533650"/>
            <a:ext cx="9620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B2630"/>
                </a:solidFill>
                <a:latin typeface="Arial"/>
                <a:ea typeface="Arial"/>
                <a:cs typeface="Arial"/>
              </a:defRPr>
            </a:pPr>
            <a:r>
              <a:rPr sz="2025" b="0">
                <a:solidFill>
                  <a:srgbClr val="1B2630"/>
                </a:solidFill>
                <a:latin typeface="Arial"/>
                <a:ea typeface="Arial"/>
                <a:cs typeface="Arial"/>
              </a:rPr>
              <a:t>Зачувај го за конкретната browser сесија.</a:t>
            </a:r>
          </a:p>
        </p:txBody>
      </p:sp>
      <p:sp>
        <p:nvSpPr>
          <p:cNvPr id="7" name="state-defense-n-2">
            <a:extLst xmlns:a="http://schemas.openxmlformats.org/drawingml/2006/main">
              <a:ext uri="{FF2B5EF4-FFF2-40B4-BE49-F238E27FC236}">
                <a16:creationId xmlns:a16="http://schemas.microsoft.com/office/drawing/2014/main" id="{82E1C9CD-B452-44F8-8058-3595C18ABA0A}"/>
              </a:ext>
            </a:extLst>
          </p:cNvPr>
          <p:cNvSpPr>
            <a:spLocks xmlns:a="http://schemas.openxmlformats.org/drawingml/2006/main" noGrp="1"/>
          </p:cNvSpPr>
          <p:nvPr/>
        </p:nvSpPr>
        <p:spPr>
          <a:xfrm xmlns:a="http://schemas.openxmlformats.org/drawingml/2006/main">
            <a:off x="742950" y="3457575"/>
            <a:ext cx="714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87F86"/>
                </a:solidFill>
                <a:latin typeface="Arial"/>
                <a:ea typeface="Arial"/>
                <a:cs typeface="Arial"/>
              </a:defRPr>
            </a:pPr>
            <a:r>
              <a:rPr sz="2325" b="1">
                <a:solidFill>
                  <a:srgbClr val="087F86"/>
                </a:solidFill>
                <a:latin typeface="Arial"/>
                <a:ea typeface="Arial"/>
                <a:cs typeface="Arial"/>
              </a:rPr>
              <a:t>03</a:t>
            </a:r>
          </a:p>
        </p:txBody>
      </p:sp>
      <p:sp>
        <p:nvSpPr>
          <p:cNvPr id="8" name="state-defense-text-2">
            <a:extLst xmlns:a="http://schemas.openxmlformats.org/drawingml/2006/main">
              <a:ext uri="{FF2B5EF4-FFF2-40B4-BE49-F238E27FC236}">
                <a16:creationId xmlns:a16="http://schemas.microsoft.com/office/drawing/2014/main" id="{A2D0A879-63E1-439D-BFE9-D77604162B74}"/>
              </a:ext>
            </a:extLst>
          </p:cNvPr>
          <p:cNvSpPr>
            <a:spLocks xmlns:a="http://schemas.openxmlformats.org/drawingml/2006/main" noGrp="1"/>
          </p:cNvSpPr>
          <p:nvPr/>
        </p:nvSpPr>
        <p:spPr>
          <a:xfrm xmlns:a="http://schemas.openxmlformats.org/drawingml/2006/main">
            <a:off x="1619250" y="3476625"/>
            <a:ext cx="9620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B2630"/>
                </a:solidFill>
                <a:latin typeface="Arial"/>
                <a:ea typeface="Arial"/>
                <a:cs typeface="Arial"/>
              </a:defRPr>
            </a:pPr>
            <a:r>
              <a:rPr sz="2025" b="0">
                <a:solidFill>
                  <a:srgbClr val="1B2630"/>
                </a:solidFill>
                <a:latin typeface="Arial"/>
                <a:ea typeface="Arial"/>
                <a:cs typeface="Arial"/>
              </a:rPr>
              <a:t>Спореди го со state вратен во callback.</a:t>
            </a:r>
          </a:p>
        </p:txBody>
      </p:sp>
      <p:sp>
        <p:nvSpPr>
          <p:cNvPr id="9" name="state-defense-n-3">
            <a:extLst xmlns:a="http://schemas.openxmlformats.org/drawingml/2006/main">
              <a:ext uri="{FF2B5EF4-FFF2-40B4-BE49-F238E27FC236}">
                <a16:creationId xmlns:a16="http://schemas.microsoft.com/office/drawing/2014/main" id="{DD9D233B-AE03-48BF-BACF-B0A2028ADB92}"/>
              </a:ext>
            </a:extLst>
          </p:cNvPr>
          <p:cNvSpPr>
            <a:spLocks xmlns:a="http://schemas.openxmlformats.org/drawingml/2006/main" noGrp="1"/>
          </p:cNvSpPr>
          <p:nvPr/>
        </p:nvSpPr>
        <p:spPr>
          <a:xfrm xmlns:a="http://schemas.openxmlformats.org/drawingml/2006/main">
            <a:off x="742950" y="4400550"/>
            <a:ext cx="714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87F86"/>
                </a:solidFill>
                <a:latin typeface="Arial"/>
                <a:ea typeface="Arial"/>
                <a:cs typeface="Arial"/>
              </a:defRPr>
            </a:pPr>
            <a:r>
              <a:rPr sz="2325" b="1">
                <a:solidFill>
                  <a:srgbClr val="087F86"/>
                </a:solidFill>
                <a:latin typeface="Arial"/>
                <a:ea typeface="Arial"/>
                <a:cs typeface="Arial"/>
              </a:rPr>
              <a:t>04</a:t>
            </a:r>
          </a:p>
        </p:txBody>
      </p:sp>
      <p:sp>
        <p:nvSpPr>
          <p:cNvPr id="10" name="state-defense-text-3">
            <a:extLst xmlns:a="http://schemas.openxmlformats.org/drawingml/2006/main">
              <a:ext uri="{FF2B5EF4-FFF2-40B4-BE49-F238E27FC236}">
                <a16:creationId xmlns:a16="http://schemas.microsoft.com/office/drawing/2014/main" id="{81C2649E-F261-4651-9C76-C065A3884718}"/>
              </a:ext>
            </a:extLst>
          </p:cNvPr>
          <p:cNvSpPr>
            <a:spLocks xmlns:a="http://schemas.openxmlformats.org/drawingml/2006/main" noGrp="1"/>
          </p:cNvSpPr>
          <p:nvPr/>
        </p:nvSpPr>
        <p:spPr>
          <a:xfrm xmlns:a="http://schemas.openxmlformats.org/drawingml/2006/main">
            <a:off x="1619250" y="4419600"/>
            <a:ext cx="9620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B2630"/>
                </a:solidFill>
                <a:latin typeface="Arial"/>
                <a:ea typeface="Arial"/>
                <a:cs typeface="Arial"/>
              </a:defRPr>
            </a:pPr>
            <a:r>
              <a:rPr sz="2025" b="0">
                <a:solidFill>
                  <a:srgbClr val="1B2630"/>
                </a:solidFill>
                <a:latin typeface="Arial"/>
                <a:ea typeface="Arial"/>
                <a:cs typeface="Arial"/>
              </a:rPr>
              <a:t>Одбиј несовпаѓање пред размена на code.</a:t>
            </a:r>
          </a:p>
        </p:txBody>
      </p:sp>
      <p:sp>
        <p:nvSpPr>
          <p:cNvPr id="11" name="pkce-caveat">
            <a:extLst xmlns:a="http://schemas.openxmlformats.org/drawingml/2006/main">
              <a:ext uri="{FF2B5EF4-FFF2-40B4-BE49-F238E27FC236}">
                <a16:creationId xmlns:a16="http://schemas.microsoft.com/office/drawing/2014/main" id="{B6678A23-D3F7-43A6-A429-99E9C92CCC68}"/>
              </a:ext>
            </a:extLst>
          </p:cNvPr>
          <p:cNvSpPr>
            <a:spLocks xmlns:a="http://schemas.openxmlformats.org/drawingml/2006/main" noGrp="1"/>
          </p:cNvSpPr>
          <p:nvPr/>
        </p:nvSpPr>
        <p:spPr>
          <a:xfrm xmlns:a="http://schemas.openxmlformats.org/drawingml/2006/main">
            <a:off x="733425" y="5619750"/>
            <a:ext cx="1000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2616B"/>
                </a:solidFill>
                <a:latin typeface="Arial"/>
                <a:ea typeface="Arial"/>
                <a:cs typeface="Arial"/>
              </a:defRPr>
            </a:pPr>
            <a:r>
              <a:rPr sz="1725" b="0">
                <a:solidFill>
                  <a:srgbClr val="52616B"/>
                </a:solidFill>
                <a:latin typeface="Arial"/>
                <a:ea typeface="Arial"/>
                <a:cs typeface="Arial"/>
              </a:rPr>
              <a:t>Во реален тек: Authorization Code + PKCE.</a:t>
            </a:r>
          </a:p>
        </p:txBody>
      </p:sp>
    </p:spTree>
    <p:extLst>
      <p:ext uri="{BB962C8B-B14F-4D97-AF65-F5344CB8AC3E}">
        <p14:creationId xmlns:p14="http://schemas.microsoft.com/office/powerpoint/2010/main" val="1004093182"/>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itle-9">
            <a:extLst xmlns:a="http://schemas.openxmlformats.org/drawingml/2006/main">
              <a:ext uri="{FF2B5EF4-FFF2-40B4-BE49-F238E27FC236}">
                <a16:creationId xmlns:a16="http://schemas.microsoft.com/office/drawing/2014/main" id="{AF17119D-1F83-4083-B984-672269CDB8A7}"/>
              </a:ext>
            </a:extLst>
          </p:cNvPr>
          <p:cNvSpPr>
            <a:spLocks xmlns:a="http://schemas.openxmlformats.org/drawingml/2006/main" noGrp="1"/>
          </p:cNvSpPr>
          <p:nvPr/>
        </p:nvSpPr>
        <p:spPr>
          <a:xfrm xmlns:a="http://schemas.openxmlformats.org/drawingml/2006/main">
            <a:off x="685800" y="438150"/>
            <a:ext cx="108204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42C3A"/>
                </a:solidFill>
                <a:latin typeface="Arial"/>
                <a:ea typeface="Arial"/>
                <a:cs typeface="Arial"/>
              </a:defRPr>
            </a:pPr>
            <a:r>
              <a:rPr sz="3150" b="1">
                <a:solidFill>
                  <a:srgbClr val="142C3A"/>
                </a:solidFill>
                <a:latin typeface="Arial"/>
                <a:ea typeface="Arial"/>
                <a:cs typeface="Arial"/>
              </a:rPr>
              <a:t>JWT: структура и доверба</a:t>
            </a:r>
          </a:p>
        </p:txBody>
      </p:sp>
      <p:sp>
        <p:nvSpPr>
          <p:cNvPr id="2" name="number-9">
            <a:extLst xmlns:a="http://schemas.openxmlformats.org/drawingml/2006/main">
              <a:ext uri="{FF2B5EF4-FFF2-40B4-BE49-F238E27FC236}">
                <a16:creationId xmlns:a16="http://schemas.microsoft.com/office/drawing/2014/main" id="{5C53C73B-758E-4254-B008-450D0252EA57}"/>
              </a:ext>
            </a:extLst>
          </p:cNvPr>
          <p:cNvSpPr>
            <a:spLocks xmlns:a="http://schemas.openxmlformats.org/drawingml/2006/main" noGrp="1"/>
          </p:cNvSpPr>
          <p:nvPr/>
        </p:nvSpPr>
        <p:spPr>
          <a:xfrm xmlns:a="http://schemas.openxmlformats.org/drawingml/2006/main">
            <a:off x="10991850" y="6305550"/>
            <a:ext cx="5143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52616B"/>
                </a:solidFill>
                <a:latin typeface="Arial"/>
                <a:ea typeface="Arial"/>
                <a:cs typeface="Arial"/>
              </a:defRPr>
            </a:pPr>
            <a:r>
              <a:rPr sz="1125" b="0">
                <a:solidFill>
                  <a:srgbClr val="52616B"/>
                </a:solidFill>
                <a:latin typeface="Arial"/>
                <a:ea typeface="Arial"/>
                <a:cs typeface="Arial"/>
              </a:rPr>
              <a:t>09</a:t>
            </a:r>
          </a:p>
        </p:txBody>
      </p:sp>
      <p:sp>
        <p:nvSpPr>
          <p:cNvPr id="3" name="jwt-form">
            <a:extLst xmlns:a="http://schemas.openxmlformats.org/drawingml/2006/main">
              <a:ext uri="{FF2B5EF4-FFF2-40B4-BE49-F238E27FC236}">
                <a16:creationId xmlns:a16="http://schemas.microsoft.com/office/drawing/2014/main" id="{524E6621-99D0-4E66-B92D-AC957E8A4EDF}"/>
              </a:ext>
            </a:extLst>
          </p:cNvPr>
          <p:cNvSpPr>
            <a:spLocks xmlns:a="http://schemas.openxmlformats.org/drawingml/2006/main" noGrp="1"/>
          </p:cNvSpPr>
          <p:nvPr/>
        </p:nvSpPr>
        <p:spPr>
          <a:xfrm xmlns:a="http://schemas.openxmlformats.org/drawingml/2006/main">
            <a:off x="733425" y="1733550"/>
            <a:ext cx="104775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825" b="1">
                <a:solidFill>
                  <a:srgbClr val="087F86"/>
                </a:solidFill>
                <a:latin typeface="Arial"/>
                <a:ea typeface="Arial"/>
                <a:cs typeface="Arial"/>
              </a:defRPr>
            </a:pPr>
            <a:r>
              <a:rPr sz="3825" b="1">
                <a:solidFill>
                  <a:srgbClr val="087F86"/>
                </a:solidFill>
                <a:latin typeface="Arial"/>
                <a:ea typeface="Arial"/>
                <a:cs typeface="Arial"/>
              </a:rPr>
              <a:t>header.payload.signature</a:t>
            </a:r>
          </a:p>
        </p:txBody>
      </p:sp>
      <p:sp>
        <p:nvSpPr>
          <p:cNvPr id="4" name="jwt-parts-title">
            <a:extLst xmlns:a="http://schemas.openxmlformats.org/drawingml/2006/main">
              <a:ext uri="{FF2B5EF4-FFF2-40B4-BE49-F238E27FC236}">
                <a16:creationId xmlns:a16="http://schemas.microsoft.com/office/drawing/2014/main" id="{D77A446D-7616-42BD-92FE-6DD5915F15EC}"/>
              </a:ext>
            </a:extLst>
          </p:cNvPr>
          <p:cNvSpPr>
            <a:spLocks xmlns:a="http://schemas.openxmlformats.org/drawingml/2006/main" noGrp="1"/>
          </p:cNvSpPr>
          <p:nvPr/>
        </p:nvSpPr>
        <p:spPr>
          <a:xfrm xmlns:a="http://schemas.openxmlformats.org/drawingml/2006/main">
            <a:off x="733425" y="3057525"/>
            <a:ext cx="10191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87F86"/>
                </a:solidFill>
                <a:latin typeface="Arial"/>
                <a:ea typeface="Arial"/>
                <a:cs typeface="Arial"/>
              </a:defRPr>
            </a:pPr>
            <a:r>
              <a:rPr sz="2325" b="1">
                <a:solidFill>
                  <a:srgbClr val="087F86"/>
                </a:solidFill>
                <a:latin typeface="Arial"/>
                <a:ea typeface="Arial"/>
                <a:cs typeface="Arial"/>
              </a:rPr>
              <a:t>Header и payload</a:t>
            </a:r>
          </a:p>
        </p:txBody>
      </p:sp>
      <p:sp>
        <p:nvSpPr>
          <p:cNvPr id="5" name="jwt-parts-desc">
            <a:extLst xmlns:a="http://schemas.openxmlformats.org/drawingml/2006/main">
              <a:ext uri="{FF2B5EF4-FFF2-40B4-BE49-F238E27FC236}">
                <a16:creationId xmlns:a16="http://schemas.microsoft.com/office/drawing/2014/main" id="{E41D5064-BA67-41A0-92AA-DB75786D6AFF}"/>
              </a:ext>
            </a:extLst>
          </p:cNvPr>
          <p:cNvSpPr>
            <a:spLocks xmlns:a="http://schemas.openxmlformats.org/drawingml/2006/main" noGrp="1"/>
          </p:cNvSpPr>
          <p:nvPr/>
        </p:nvSpPr>
        <p:spPr>
          <a:xfrm xmlns:a="http://schemas.openxmlformats.org/drawingml/2006/main">
            <a:off x="733425" y="3524250"/>
            <a:ext cx="10382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B2630"/>
                </a:solidFill>
                <a:latin typeface="Arial"/>
                <a:ea typeface="Arial"/>
                <a:cs typeface="Arial"/>
              </a:defRPr>
            </a:pPr>
            <a:r>
              <a:rPr sz="1875" b="0">
                <a:solidFill>
                  <a:srgbClr val="1B2630"/>
                </a:solidFill>
                <a:latin typeface="Arial"/>
                <a:ea typeface="Arial"/>
                <a:cs typeface="Arial"/>
              </a:rPr>
              <a:t>Може да се прочитаат. Base64URL не е шифрирање.</a:t>
            </a:r>
          </a:p>
        </p:txBody>
      </p:sp>
      <p:sp>
        <p:nvSpPr>
          <p:cNvPr id="6" name="jwt-signature-title">
            <a:extLst xmlns:a="http://schemas.openxmlformats.org/drawingml/2006/main">
              <a:ext uri="{FF2B5EF4-FFF2-40B4-BE49-F238E27FC236}">
                <a16:creationId xmlns:a16="http://schemas.microsoft.com/office/drawing/2014/main" id="{1A0AD711-3655-4A5C-99A5-775AC11196B7}"/>
              </a:ext>
            </a:extLst>
          </p:cNvPr>
          <p:cNvSpPr>
            <a:spLocks xmlns:a="http://schemas.openxmlformats.org/drawingml/2006/main" noGrp="1"/>
          </p:cNvSpPr>
          <p:nvPr/>
        </p:nvSpPr>
        <p:spPr>
          <a:xfrm xmlns:a="http://schemas.openxmlformats.org/drawingml/2006/main">
            <a:off x="733425" y="4495800"/>
            <a:ext cx="10191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87F86"/>
                </a:solidFill>
                <a:latin typeface="Arial"/>
                <a:ea typeface="Arial"/>
                <a:cs typeface="Arial"/>
              </a:defRPr>
            </a:pPr>
            <a:r>
              <a:rPr sz="2325" b="1">
                <a:solidFill>
                  <a:srgbClr val="087F86"/>
                </a:solidFill>
                <a:latin typeface="Arial"/>
                <a:ea typeface="Arial"/>
                <a:cs typeface="Arial"/>
              </a:rPr>
              <a:t>Signature</a:t>
            </a:r>
          </a:p>
        </p:txBody>
      </p:sp>
      <p:sp>
        <p:nvSpPr>
          <p:cNvPr id="7" name="jwt-signature-desc">
            <a:extLst xmlns:a="http://schemas.openxmlformats.org/drawingml/2006/main">
              <a:ext uri="{FF2B5EF4-FFF2-40B4-BE49-F238E27FC236}">
                <a16:creationId xmlns:a16="http://schemas.microsoft.com/office/drawing/2014/main" id="{EB6291E3-91D8-4D9B-8BFD-3323DE0A00D5}"/>
              </a:ext>
            </a:extLst>
          </p:cNvPr>
          <p:cNvSpPr>
            <a:spLocks xmlns:a="http://schemas.openxmlformats.org/drawingml/2006/main" noGrp="1"/>
          </p:cNvSpPr>
          <p:nvPr/>
        </p:nvSpPr>
        <p:spPr>
          <a:xfrm xmlns:a="http://schemas.openxmlformats.org/drawingml/2006/main">
            <a:off x="733425" y="4962525"/>
            <a:ext cx="10382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B2630"/>
                </a:solidFill>
                <a:latin typeface="Arial"/>
                <a:ea typeface="Arial"/>
                <a:cs typeface="Arial"/>
              </a:defRPr>
            </a:pPr>
            <a:r>
              <a:rPr sz="1875" b="0">
                <a:solidFill>
                  <a:srgbClr val="1B2630"/>
                </a:solidFill>
                <a:latin typeface="Arial"/>
                <a:ea typeface="Arial"/>
                <a:cs typeface="Arial"/>
              </a:rPr>
              <a:t>Серверот проверува со очекуван алгоритам и клуч.</a:t>
            </a:r>
          </a:p>
        </p:txBody>
      </p:sp>
    </p:spTree>
    <p:extLst>
      <p:ext uri="{BB962C8B-B14F-4D97-AF65-F5344CB8AC3E}">
        <p14:creationId xmlns:p14="http://schemas.microsoft.com/office/powerpoint/2010/main" val="53072098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itle-10">
            <a:extLst xmlns:a="http://schemas.openxmlformats.org/drawingml/2006/main">
              <a:ext uri="{FF2B5EF4-FFF2-40B4-BE49-F238E27FC236}">
                <a16:creationId xmlns:a16="http://schemas.microsoft.com/office/drawing/2014/main" id="{B26357F6-C48C-4EE4-8450-D16E875BF890}"/>
              </a:ext>
            </a:extLst>
          </p:cNvPr>
          <p:cNvSpPr>
            <a:spLocks xmlns:a="http://schemas.openxmlformats.org/drawingml/2006/main" noGrp="1"/>
          </p:cNvSpPr>
          <p:nvPr/>
        </p:nvSpPr>
        <p:spPr>
          <a:xfrm xmlns:a="http://schemas.openxmlformats.org/drawingml/2006/main">
            <a:off x="685800" y="438150"/>
            <a:ext cx="108204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42C3A"/>
                </a:solidFill>
                <a:latin typeface="Arial"/>
                <a:ea typeface="Arial"/>
                <a:cs typeface="Arial"/>
              </a:defRPr>
            </a:pPr>
            <a:r>
              <a:rPr sz="3150" b="1">
                <a:solidFill>
                  <a:srgbClr val="142C3A"/>
                </a:solidFill>
                <a:latin typeface="Arial"/>
                <a:ea typeface="Arial"/>
                <a:cs typeface="Arial"/>
              </a:rPr>
              <a:t>JWT сценарио 1: alg none</a:t>
            </a:r>
          </a:p>
        </p:txBody>
      </p:sp>
      <p:sp>
        <p:nvSpPr>
          <p:cNvPr id="2" name="number-10">
            <a:extLst xmlns:a="http://schemas.openxmlformats.org/drawingml/2006/main">
              <a:ext uri="{FF2B5EF4-FFF2-40B4-BE49-F238E27FC236}">
                <a16:creationId xmlns:a16="http://schemas.microsoft.com/office/drawing/2014/main" id="{8F0E975C-130D-47AD-BFD7-AC26A1A66E0F}"/>
              </a:ext>
            </a:extLst>
          </p:cNvPr>
          <p:cNvSpPr>
            <a:spLocks xmlns:a="http://schemas.openxmlformats.org/drawingml/2006/main" noGrp="1"/>
          </p:cNvSpPr>
          <p:nvPr/>
        </p:nvSpPr>
        <p:spPr>
          <a:xfrm xmlns:a="http://schemas.openxmlformats.org/drawingml/2006/main">
            <a:off x="10991850" y="6305550"/>
            <a:ext cx="5143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52616B"/>
                </a:solidFill>
                <a:latin typeface="Arial"/>
                <a:ea typeface="Arial"/>
                <a:cs typeface="Arial"/>
              </a:defRPr>
            </a:pPr>
            <a:r>
              <a:rPr sz="1125" b="0">
                <a:solidFill>
                  <a:srgbClr val="52616B"/>
                </a:solidFill>
                <a:latin typeface="Arial"/>
                <a:ea typeface="Arial"/>
                <a:cs typeface="Arial"/>
              </a:rPr>
              <a:t>10</a:t>
            </a:r>
          </a:p>
        </p:txBody>
      </p:sp>
      <p:sp>
        <p:nvSpPr>
          <p:cNvPr id="3" name="none-header">
            <a:extLst xmlns:a="http://schemas.openxmlformats.org/drawingml/2006/main">
              <a:ext uri="{FF2B5EF4-FFF2-40B4-BE49-F238E27FC236}">
                <a16:creationId xmlns:a16="http://schemas.microsoft.com/office/drawing/2014/main" id="{ADC4FA13-7195-4533-9A55-FB364F2B4454}"/>
              </a:ext>
            </a:extLst>
          </p:cNvPr>
          <p:cNvSpPr>
            <a:spLocks xmlns:a="http://schemas.openxmlformats.org/drawingml/2006/main" noGrp="1"/>
          </p:cNvSpPr>
          <p:nvPr/>
        </p:nvSpPr>
        <p:spPr>
          <a:xfrm xmlns:a="http://schemas.openxmlformats.org/drawingml/2006/main">
            <a:off x="733425" y="1562100"/>
            <a:ext cx="101917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B5403A"/>
                </a:solidFill>
                <a:latin typeface="Arial"/>
                <a:ea typeface="Arial"/>
                <a:cs typeface="Arial"/>
              </a:defRPr>
            </a:pPr>
            <a:r>
              <a:rPr sz="2925" b="1">
                <a:solidFill>
                  <a:srgbClr val="B5403A"/>
                </a:solidFill>
                <a:latin typeface="Arial"/>
                <a:ea typeface="Arial"/>
                <a:cs typeface="Arial"/>
              </a:rPr>
              <a:t>{"alg":"none"}</a:t>
            </a:r>
          </a:p>
        </p:txBody>
      </p:sp>
      <p:sp>
        <p:nvSpPr>
          <p:cNvPr id="4" name="none-problem-title">
            <a:extLst xmlns:a="http://schemas.openxmlformats.org/drawingml/2006/main">
              <a:ext uri="{FF2B5EF4-FFF2-40B4-BE49-F238E27FC236}">
                <a16:creationId xmlns:a16="http://schemas.microsoft.com/office/drawing/2014/main" id="{A9936471-B589-46B4-ACCD-D846A76C2BA9}"/>
              </a:ext>
            </a:extLst>
          </p:cNvPr>
          <p:cNvSpPr>
            <a:spLocks xmlns:a="http://schemas.openxmlformats.org/drawingml/2006/main" noGrp="1"/>
          </p:cNvSpPr>
          <p:nvPr/>
        </p:nvSpPr>
        <p:spPr>
          <a:xfrm xmlns:a="http://schemas.openxmlformats.org/drawingml/2006/main">
            <a:off x="733425" y="2571750"/>
            <a:ext cx="10191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B5403A"/>
                </a:solidFill>
                <a:latin typeface="Arial"/>
                <a:ea typeface="Arial"/>
                <a:cs typeface="Arial"/>
              </a:defRPr>
            </a:pPr>
            <a:r>
              <a:rPr sz="2325" b="1">
                <a:solidFill>
                  <a:srgbClr val="B5403A"/>
                </a:solidFill>
                <a:latin typeface="Arial"/>
                <a:ea typeface="Arial"/>
                <a:cs typeface="Arial"/>
              </a:rPr>
              <a:t>Грешка во валидаторот</a:t>
            </a:r>
          </a:p>
        </p:txBody>
      </p:sp>
      <p:sp>
        <p:nvSpPr>
          <p:cNvPr id="5" name="none-problem-desc">
            <a:extLst xmlns:a="http://schemas.openxmlformats.org/drawingml/2006/main">
              <a:ext uri="{FF2B5EF4-FFF2-40B4-BE49-F238E27FC236}">
                <a16:creationId xmlns:a16="http://schemas.microsoft.com/office/drawing/2014/main" id="{653ADDC5-3D8D-4C39-BD7A-C40E71DE3C16}"/>
              </a:ext>
            </a:extLst>
          </p:cNvPr>
          <p:cNvSpPr>
            <a:spLocks xmlns:a="http://schemas.openxmlformats.org/drawingml/2006/main" noGrp="1"/>
          </p:cNvSpPr>
          <p:nvPr/>
        </p:nvSpPr>
        <p:spPr>
          <a:xfrm xmlns:a="http://schemas.openxmlformats.org/drawingml/2006/main">
            <a:off x="733425" y="3038475"/>
            <a:ext cx="10382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B2630"/>
                </a:solidFill>
                <a:latin typeface="Arial"/>
                <a:ea typeface="Arial"/>
                <a:cs typeface="Arial"/>
              </a:defRPr>
            </a:pPr>
            <a:r>
              <a:rPr sz="1875" b="0">
                <a:solidFill>
                  <a:srgbClr val="1B2630"/>
                </a:solidFill>
                <a:latin typeface="Arial"/>
                <a:ea typeface="Arial"/>
                <a:cs typeface="Arial"/>
              </a:rPr>
              <a:t>Го враќа payload-от без да бара потпис.</a:t>
            </a:r>
          </a:p>
        </p:txBody>
      </p:sp>
      <p:sp>
        <p:nvSpPr>
          <p:cNvPr id="6" name="none-attack-title">
            <a:extLst xmlns:a="http://schemas.openxmlformats.org/drawingml/2006/main">
              <a:ext uri="{FF2B5EF4-FFF2-40B4-BE49-F238E27FC236}">
                <a16:creationId xmlns:a16="http://schemas.microsoft.com/office/drawing/2014/main" id="{E226A42F-A711-4474-88E0-912F5C49BA01}"/>
              </a:ext>
            </a:extLst>
          </p:cNvPr>
          <p:cNvSpPr>
            <a:spLocks xmlns:a="http://schemas.openxmlformats.org/drawingml/2006/main" noGrp="1"/>
          </p:cNvSpPr>
          <p:nvPr/>
        </p:nvSpPr>
        <p:spPr>
          <a:xfrm xmlns:a="http://schemas.openxmlformats.org/drawingml/2006/main">
            <a:off x="733425" y="3905250"/>
            <a:ext cx="10191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42C3A"/>
                </a:solidFill>
                <a:latin typeface="Arial"/>
                <a:ea typeface="Arial"/>
                <a:cs typeface="Arial"/>
              </a:defRPr>
            </a:pPr>
            <a:r>
              <a:rPr sz="2325" b="1">
                <a:solidFill>
                  <a:srgbClr val="142C3A"/>
                </a:solidFill>
                <a:latin typeface="Arial"/>
                <a:ea typeface="Arial"/>
                <a:cs typeface="Arial"/>
              </a:rPr>
              <a:t>Фалсификуван токен</a:t>
            </a:r>
          </a:p>
        </p:txBody>
      </p:sp>
      <p:sp>
        <p:nvSpPr>
          <p:cNvPr id="7" name="none-attack-desc">
            <a:extLst xmlns:a="http://schemas.openxmlformats.org/drawingml/2006/main">
              <a:ext uri="{FF2B5EF4-FFF2-40B4-BE49-F238E27FC236}">
                <a16:creationId xmlns:a16="http://schemas.microsoft.com/office/drawing/2014/main" id="{E2C9C960-B46E-495C-80E5-1A8218960DC7}"/>
              </a:ext>
            </a:extLst>
          </p:cNvPr>
          <p:cNvSpPr>
            <a:spLocks xmlns:a="http://schemas.openxmlformats.org/drawingml/2006/main" noGrp="1"/>
          </p:cNvSpPr>
          <p:nvPr/>
        </p:nvSpPr>
        <p:spPr>
          <a:xfrm xmlns:a="http://schemas.openxmlformats.org/drawingml/2006/main">
            <a:off x="733425" y="4371975"/>
            <a:ext cx="10382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B2630"/>
                </a:solidFill>
                <a:latin typeface="Arial"/>
                <a:ea typeface="Arial"/>
                <a:cs typeface="Arial"/>
              </a:defRPr>
            </a:pPr>
            <a:r>
              <a:rPr sz="1875" b="0">
                <a:solidFill>
                  <a:srgbClr val="1B2630"/>
                </a:solidFill>
                <a:latin typeface="Arial"/>
                <a:ea typeface="Arial"/>
                <a:cs typeface="Arial"/>
              </a:rPr>
              <a:t>Payload содржи role: admin, а потписот е празен.</a:t>
            </a:r>
          </a:p>
        </p:txBody>
      </p:sp>
      <p:sp>
        <p:nvSpPr>
          <p:cNvPr id="8" name="none-status">
            <a:extLst xmlns:a="http://schemas.openxmlformats.org/drawingml/2006/main">
              <a:ext uri="{FF2B5EF4-FFF2-40B4-BE49-F238E27FC236}">
                <a16:creationId xmlns:a16="http://schemas.microsoft.com/office/drawing/2014/main" id="{48A5324D-6A00-4A91-9B57-E2707BF3CB02}"/>
              </a:ext>
            </a:extLst>
          </p:cNvPr>
          <p:cNvSpPr>
            <a:spLocks xmlns:a="http://schemas.openxmlformats.org/drawingml/2006/main" noGrp="1"/>
          </p:cNvSpPr>
          <p:nvPr/>
        </p:nvSpPr>
        <p:spPr>
          <a:xfrm xmlns:a="http://schemas.openxmlformats.org/drawingml/2006/main">
            <a:off x="733425" y="5524500"/>
            <a:ext cx="10382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087F86"/>
                </a:solidFill>
                <a:latin typeface="Arial"/>
                <a:ea typeface="Arial"/>
                <a:cs typeface="Arial"/>
              </a:defRPr>
            </a:pPr>
            <a:r>
              <a:rPr sz="2100" b="1">
                <a:solidFill>
                  <a:srgbClr val="087F86"/>
                </a:solidFill>
                <a:latin typeface="Arial"/>
                <a:ea typeface="Arial"/>
                <a:cs typeface="Arial"/>
              </a:rPr>
              <a:t>Ранлива рута 200     Фиксен HS256 401</a:t>
            </a:r>
          </a:p>
        </p:txBody>
      </p:sp>
    </p:spTree>
    <p:extLst>
      <p:ext uri="{BB962C8B-B14F-4D97-AF65-F5344CB8AC3E}">
        <p14:creationId xmlns:p14="http://schemas.microsoft.com/office/powerpoint/2010/main" val="34965334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title-11">
            <a:extLst xmlns:a="http://schemas.openxmlformats.org/drawingml/2006/main">
              <a:ext uri="{FF2B5EF4-FFF2-40B4-BE49-F238E27FC236}">
                <a16:creationId xmlns:a16="http://schemas.microsoft.com/office/drawing/2014/main" id="{B34ED605-3D41-4D7B-A778-102D8A00F7C0}"/>
              </a:ext>
            </a:extLst>
          </p:cNvPr>
          <p:cNvSpPr>
            <a:spLocks xmlns:a="http://schemas.openxmlformats.org/drawingml/2006/main" noGrp="1"/>
          </p:cNvSpPr>
          <p:nvPr/>
        </p:nvSpPr>
        <p:spPr>
          <a:xfrm xmlns:a="http://schemas.openxmlformats.org/drawingml/2006/main">
            <a:off x="685800" y="438150"/>
            <a:ext cx="108204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42C3A"/>
                </a:solidFill>
                <a:latin typeface="Arial"/>
                <a:ea typeface="Arial"/>
                <a:cs typeface="Arial"/>
              </a:defRPr>
            </a:pPr>
            <a:r>
              <a:rPr sz="3150" b="1">
                <a:solidFill>
                  <a:srgbClr val="142C3A"/>
                </a:solidFill>
                <a:latin typeface="Arial"/>
                <a:ea typeface="Arial"/>
                <a:cs typeface="Arial"/>
              </a:rPr>
              <a:t>JWT сценарио 2: слаба тајна</a:t>
            </a:r>
          </a:p>
        </p:txBody>
      </p:sp>
      <p:sp>
        <p:nvSpPr>
          <p:cNvPr id="2" name="number-11">
            <a:extLst xmlns:a="http://schemas.openxmlformats.org/drawingml/2006/main">
              <a:ext uri="{FF2B5EF4-FFF2-40B4-BE49-F238E27FC236}">
                <a16:creationId xmlns:a16="http://schemas.microsoft.com/office/drawing/2014/main" id="{6952EA2D-A20A-48C2-9E06-31A4566F6C7F}"/>
              </a:ext>
            </a:extLst>
          </p:cNvPr>
          <p:cNvSpPr>
            <a:spLocks xmlns:a="http://schemas.openxmlformats.org/drawingml/2006/main" noGrp="1"/>
          </p:cNvSpPr>
          <p:nvPr/>
        </p:nvSpPr>
        <p:spPr>
          <a:xfrm xmlns:a="http://schemas.openxmlformats.org/drawingml/2006/main">
            <a:off x="10991850" y="6305550"/>
            <a:ext cx="5143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52616B"/>
                </a:solidFill>
                <a:latin typeface="Arial"/>
                <a:ea typeface="Arial"/>
                <a:cs typeface="Arial"/>
              </a:defRPr>
            </a:pPr>
            <a:r>
              <a:rPr sz="1125" b="0">
                <a:solidFill>
                  <a:srgbClr val="52616B"/>
                </a:solidFill>
                <a:latin typeface="Arial"/>
                <a:ea typeface="Arial"/>
                <a:cs typeface="Arial"/>
              </a:rPr>
              <a:t>11</a:t>
            </a:r>
          </a:p>
        </p:txBody>
      </p:sp>
      <p:sp>
        <p:nvSpPr>
          <p:cNvPr id="3" name="weak-steps-n-0">
            <a:extLst xmlns:a="http://schemas.openxmlformats.org/drawingml/2006/main">
              <a:ext uri="{FF2B5EF4-FFF2-40B4-BE49-F238E27FC236}">
                <a16:creationId xmlns:a16="http://schemas.microsoft.com/office/drawing/2014/main" id="{D9B807D9-4EB3-4386-B744-FC411BDE79A8}"/>
              </a:ext>
            </a:extLst>
          </p:cNvPr>
          <p:cNvSpPr>
            <a:spLocks xmlns:a="http://schemas.openxmlformats.org/drawingml/2006/main" noGrp="1"/>
          </p:cNvSpPr>
          <p:nvPr/>
        </p:nvSpPr>
        <p:spPr>
          <a:xfrm xmlns:a="http://schemas.openxmlformats.org/drawingml/2006/main">
            <a:off x="742950" y="1571625"/>
            <a:ext cx="714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87F86"/>
                </a:solidFill>
                <a:latin typeface="Arial"/>
                <a:ea typeface="Arial"/>
                <a:cs typeface="Arial"/>
              </a:defRPr>
            </a:pPr>
            <a:r>
              <a:rPr sz="2325" b="1">
                <a:solidFill>
                  <a:srgbClr val="087F86"/>
                </a:solidFill>
                <a:latin typeface="Arial"/>
                <a:ea typeface="Arial"/>
                <a:cs typeface="Arial"/>
              </a:rPr>
              <a:t>01</a:t>
            </a:r>
          </a:p>
        </p:txBody>
      </p:sp>
      <p:sp>
        <p:nvSpPr>
          <p:cNvPr id="4" name="weak-steps-text-0">
            <a:extLst xmlns:a="http://schemas.openxmlformats.org/drawingml/2006/main">
              <a:ext uri="{FF2B5EF4-FFF2-40B4-BE49-F238E27FC236}">
                <a16:creationId xmlns:a16="http://schemas.microsoft.com/office/drawing/2014/main" id="{0B5D845C-A7C0-4770-8668-A2B786E98110}"/>
              </a:ext>
            </a:extLst>
          </p:cNvPr>
          <p:cNvSpPr>
            <a:spLocks xmlns:a="http://schemas.openxmlformats.org/drawingml/2006/main" noGrp="1"/>
          </p:cNvSpPr>
          <p:nvPr/>
        </p:nvSpPr>
        <p:spPr>
          <a:xfrm xmlns:a="http://schemas.openxmlformats.org/drawingml/2006/main">
            <a:off x="1619250" y="1590675"/>
            <a:ext cx="9620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B2630"/>
                </a:solidFill>
                <a:latin typeface="Arial"/>
                <a:ea typeface="Arial"/>
                <a:cs typeface="Arial"/>
              </a:defRPr>
            </a:pPr>
            <a:r>
              <a:rPr sz="1950" b="0">
                <a:solidFill>
                  <a:srgbClr val="1B2630"/>
                </a:solidFill>
                <a:latin typeface="Arial"/>
                <a:ea typeface="Arial"/>
                <a:cs typeface="Arial"/>
              </a:rPr>
              <a:t>Земаме валиден HS256 токен за обичен корисник.</a:t>
            </a:r>
          </a:p>
        </p:txBody>
      </p:sp>
      <p:sp>
        <p:nvSpPr>
          <p:cNvPr id="5" name="weak-steps-n-1">
            <a:extLst xmlns:a="http://schemas.openxmlformats.org/drawingml/2006/main">
              <a:ext uri="{FF2B5EF4-FFF2-40B4-BE49-F238E27FC236}">
                <a16:creationId xmlns:a16="http://schemas.microsoft.com/office/drawing/2014/main" id="{522FFDAA-17E8-40AC-BFBA-173186079751}"/>
              </a:ext>
            </a:extLst>
          </p:cNvPr>
          <p:cNvSpPr>
            <a:spLocks xmlns:a="http://schemas.openxmlformats.org/drawingml/2006/main" noGrp="1"/>
          </p:cNvSpPr>
          <p:nvPr/>
        </p:nvSpPr>
        <p:spPr>
          <a:xfrm xmlns:a="http://schemas.openxmlformats.org/drawingml/2006/main">
            <a:off x="742950" y="2514600"/>
            <a:ext cx="714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87F86"/>
                </a:solidFill>
                <a:latin typeface="Arial"/>
                <a:ea typeface="Arial"/>
                <a:cs typeface="Arial"/>
              </a:defRPr>
            </a:pPr>
            <a:r>
              <a:rPr sz="2325" b="1">
                <a:solidFill>
                  <a:srgbClr val="087F86"/>
                </a:solidFill>
                <a:latin typeface="Arial"/>
                <a:ea typeface="Arial"/>
                <a:cs typeface="Arial"/>
              </a:rPr>
              <a:t>02</a:t>
            </a:r>
          </a:p>
        </p:txBody>
      </p:sp>
      <p:sp>
        <p:nvSpPr>
          <p:cNvPr id="6" name="weak-steps-text-1">
            <a:extLst xmlns:a="http://schemas.openxmlformats.org/drawingml/2006/main">
              <a:ext uri="{FF2B5EF4-FFF2-40B4-BE49-F238E27FC236}">
                <a16:creationId xmlns:a16="http://schemas.microsoft.com/office/drawing/2014/main" id="{4CC9A897-1499-4911-8319-83AA6482A52E}"/>
              </a:ext>
            </a:extLst>
          </p:cNvPr>
          <p:cNvSpPr>
            <a:spLocks xmlns:a="http://schemas.openxmlformats.org/drawingml/2006/main" noGrp="1"/>
          </p:cNvSpPr>
          <p:nvPr/>
        </p:nvSpPr>
        <p:spPr>
          <a:xfrm xmlns:a="http://schemas.openxmlformats.org/drawingml/2006/main">
            <a:off x="1619250" y="2533650"/>
            <a:ext cx="9620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B2630"/>
                </a:solidFill>
                <a:latin typeface="Arial"/>
                <a:ea typeface="Arial"/>
                <a:cs typeface="Arial"/>
              </a:defRPr>
            </a:pPr>
            <a:r>
              <a:rPr sz="1950" b="0">
                <a:solidFill>
                  <a:srgbClr val="1B2630"/>
                </a:solidFill>
                <a:latin typeface="Arial"/>
                <a:ea typeface="Arial"/>
                <a:cs typeface="Arial"/>
              </a:rPr>
              <a:t>Офлајн се споредуваат потписи за шест кандидати.</a:t>
            </a:r>
          </a:p>
        </p:txBody>
      </p:sp>
      <p:sp>
        <p:nvSpPr>
          <p:cNvPr id="7" name="weak-steps-n-2">
            <a:extLst xmlns:a="http://schemas.openxmlformats.org/drawingml/2006/main">
              <a:ext uri="{FF2B5EF4-FFF2-40B4-BE49-F238E27FC236}">
                <a16:creationId xmlns:a16="http://schemas.microsoft.com/office/drawing/2014/main" id="{A268BF9E-C05C-4DC3-B161-05A160447BD0}"/>
              </a:ext>
            </a:extLst>
          </p:cNvPr>
          <p:cNvSpPr>
            <a:spLocks xmlns:a="http://schemas.openxmlformats.org/drawingml/2006/main" noGrp="1"/>
          </p:cNvSpPr>
          <p:nvPr/>
        </p:nvSpPr>
        <p:spPr>
          <a:xfrm xmlns:a="http://schemas.openxmlformats.org/drawingml/2006/main">
            <a:off x="742950" y="3457575"/>
            <a:ext cx="714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87F86"/>
                </a:solidFill>
                <a:latin typeface="Arial"/>
                <a:ea typeface="Arial"/>
                <a:cs typeface="Arial"/>
              </a:defRPr>
            </a:pPr>
            <a:r>
              <a:rPr sz="2325" b="1">
                <a:solidFill>
                  <a:srgbClr val="087F86"/>
                </a:solidFill>
                <a:latin typeface="Arial"/>
                <a:ea typeface="Arial"/>
                <a:cs typeface="Arial"/>
              </a:rPr>
              <a:t>03</a:t>
            </a:r>
          </a:p>
        </p:txBody>
      </p:sp>
      <p:sp>
        <p:nvSpPr>
          <p:cNvPr id="8" name="weak-steps-text-2">
            <a:extLst xmlns:a="http://schemas.openxmlformats.org/drawingml/2006/main">
              <a:ext uri="{FF2B5EF4-FFF2-40B4-BE49-F238E27FC236}">
                <a16:creationId xmlns:a16="http://schemas.microsoft.com/office/drawing/2014/main" id="{7E415FB1-6623-494E-A2DD-CCEFB89953FE}"/>
              </a:ext>
            </a:extLst>
          </p:cNvPr>
          <p:cNvSpPr>
            <a:spLocks xmlns:a="http://schemas.openxmlformats.org/drawingml/2006/main" noGrp="1"/>
          </p:cNvSpPr>
          <p:nvPr/>
        </p:nvSpPr>
        <p:spPr>
          <a:xfrm xmlns:a="http://schemas.openxmlformats.org/drawingml/2006/main">
            <a:off x="1619250" y="3476625"/>
            <a:ext cx="9620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B2630"/>
                </a:solidFill>
                <a:latin typeface="Arial"/>
                <a:ea typeface="Arial"/>
                <a:cs typeface="Arial"/>
              </a:defRPr>
            </a:pPr>
            <a:r>
              <a:rPr sz="1950" b="0">
                <a:solidFill>
                  <a:srgbClr val="1B2630"/>
                </a:solidFill>
                <a:latin typeface="Arial"/>
                <a:ea typeface="Arial"/>
                <a:cs typeface="Arial"/>
              </a:rPr>
              <a:t>Тајната secret123 е пронајдена во четвртиот обид.</a:t>
            </a:r>
          </a:p>
        </p:txBody>
      </p:sp>
      <p:sp>
        <p:nvSpPr>
          <p:cNvPr id="9" name="weak-steps-n-3">
            <a:extLst xmlns:a="http://schemas.openxmlformats.org/drawingml/2006/main">
              <a:ext uri="{FF2B5EF4-FFF2-40B4-BE49-F238E27FC236}">
                <a16:creationId xmlns:a16="http://schemas.microsoft.com/office/drawing/2014/main" id="{B18F8285-4491-4A32-8BA7-A1479CB649CE}"/>
              </a:ext>
            </a:extLst>
          </p:cNvPr>
          <p:cNvSpPr>
            <a:spLocks xmlns:a="http://schemas.openxmlformats.org/drawingml/2006/main" noGrp="1"/>
          </p:cNvSpPr>
          <p:nvPr/>
        </p:nvSpPr>
        <p:spPr>
          <a:xfrm xmlns:a="http://schemas.openxmlformats.org/drawingml/2006/main">
            <a:off x="742950" y="4400550"/>
            <a:ext cx="714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87F86"/>
                </a:solidFill>
                <a:latin typeface="Arial"/>
                <a:ea typeface="Arial"/>
                <a:cs typeface="Arial"/>
              </a:defRPr>
            </a:pPr>
            <a:r>
              <a:rPr sz="2325" b="1">
                <a:solidFill>
                  <a:srgbClr val="087F86"/>
                </a:solidFill>
                <a:latin typeface="Arial"/>
                <a:ea typeface="Arial"/>
                <a:cs typeface="Arial"/>
              </a:rPr>
              <a:t>04</a:t>
            </a:r>
          </a:p>
        </p:txBody>
      </p:sp>
      <p:sp>
        <p:nvSpPr>
          <p:cNvPr id="10" name="weak-steps-text-3">
            <a:extLst xmlns:a="http://schemas.openxmlformats.org/drawingml/2006/main">
              <a:ext uri="{FF2B5EF4-FFF2-40B4-BE49-F238E27FC236}">
                <a16:creationId xmlns:a16="http://schemas.microsoft.com/office/drawing/2014/main" id="{C022B50E-2B20-462B-8574-229E4CB23B76}"/>
              </a:ext>
            </a:extLst>
          </p:cNvPr>
          <p:cNvSpPr>
            <a:spLocks xmlns:a="http://schemas.openxmlformats.org/drawingml/2006/main" noGrp="1"/>
          </p:cNvSpPr>
          <p:nvPr/>
        </p:nvSpPr>
        <p:spPr>
          <a:xfrm xmlns:a="http://schemas.openxmlformats.org/drawingml/2006/main">
            <a:off x="1619250" y="4419600"/>
            <a:ext cx="9620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B2630"/>
                </a:solidFill>
                <a:latin typeface="Arial"/>
                <a:ea typeface="Arial"/>
                <a:cs typeface="Arial"/>
              </a:defRPr>
            </a:pPr>
            <a:r>
              <a:rPr sz="1950" b="0">
                <a:solidFill>
                  <a:srgbClr val="1B2630"/>
                </a:solidFill>
                <a:latin typeface="Arial"/>
                <a:ea typeface="Arial"/>
                <a:cs typeface="Arial"/>
              </a:rPr>
              <a:t>Нов admin токен се прифаќа со HTTP 200.</a:t>
            </a:r>
          </a:p>
        </p:txBody>
      </p:sp>
      <p:sp>
        <p:nvSpPr>
          <p:cNvPr id="11" name="weak-conclusion">
            <a:extLst xmlns:a="http://schemas.openxmlformats.org/drawingml/2006/main">
              <a:ext uri="{FF2B5EF4-FFF2-40B4-BE49-F238E27FC236}">
                <a16:creationId xmlns:a16="http://schemas.microsoft.com/office/drawing/2014/main" id="{C36F9EC7-AD40-4C9A-A61F-BC77BF345155}"/>
              </a:ext>
            </a:extLst>
          </p:cNvPr>
          <p:cNvSpPr>
            <a:spLocks xmlns:a="http://schemas.openxmlformats.org/drawingml/2006/main" noGrp="1"/>
          </p:cNvSpPr>
          <p:nvPr/>
        </p:nvSpPr>
        <p:spPr>
          <a:xfrm xmlns:a="http://schemas.openxmlformats.org/drawingml/2006/main">
            <a:off x="733425" y="5581650"/>
            <a:ext cx="10477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B5403A"/>
                </a:solidFill>
                <a:latin typeface="Arial"/>
                <a:ea typeface="Arial"/>
                <a:cs typeface="Arial"/>
              </a:defRPr>
            </a:pPr>
            <a:r>
              <a:rPr sz="1950" b="1">
                <a:solidFill>
                  <a:srgbClr val="B5403A"/>
                </a:solidFill>
                <a:latin typeface="Arial"/>
                <a:ea typeface="Arial"/>
                <a:cs typeface="Arial"/>
              </a:rPr>
              <a:t>Фиксен алгоритам не е доволен кога клучот е погодлив.</a:t>
            </a:r>
          </a:p>
        </p:txBody>
      </p:sp>
    </p:spTree>
    <p:extLst>
      <p:ext uri="{BB962C8B-B14F-4D97-AF65-F5344CB8AC3E}">
        <p14:creationId xmlns:p14="http://schemas.microsoft.com/office/powerpoint/2010/main" val="127713817"/>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itle-12">
            <a:extLst xmlns:a="http://schemas.openxmlformats.org/drawingml/2006/main">
              <a:ext uri="{FF2B5EF4-FFF2-40B4-BE49-F238E27FC236}">
                <a16:creationId xmlns:a16="http://schemas.microsoft.com/office/drawing/2014/main" id="{FFEBEB5A-6386-4893-9254-2622D1A9F6F7}"/>
              </a:ext>
            </a:extLst>
          </p:cNvPr>
          <p:cNvSpPr>
            <a:spLocks xmlns:a="http://schemas.openxmlformats.org/drawingml/2006/main" noGrp="1"/>
          </p:cNvSpPr>
          <p:nvPr/>
        </p:nvSpPr>
        <p:spPr>
          <a:xfrm xmlns:a="http://schemas.openxmlformats.org/drawingml/2006/main">
            <a:off x="685800" y="438150"/>
            <a:ext cx="108204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42C3A"/>
                </a:solidFill>
                <a:latin typeface="Arial"/>
                <a:ea typeface="Arial"/>
                <a:cs typeface="Arial"/>
              </a:defRPr>
            </a:pPr>
            <a:r>
              <a:rPr sz="3150" b="1">
                <a:solidFill>
                  <a:srgbClr val="142C3A"/>
                </a:solidFill>
                <a:latin typeface="Arial"/>
                <a:ea typeface="Arial"/>
                <a:cs typeface="Arial"/>
              </a:rPr>
              <a:t>JWT сценарио 3: RS256 и HS256</a:t>
            </a:r>
          </a:p>
        </p:txBody>
      </p:sp>
      <p:sp>
        <p:nvSpPr>
          <p:cNvPr id="2" name="number-12">
            <a:extLst xmlns:a="http://schemas.openxmlformats.org/drawingml/2006/main">
              <a:ext uri="{FF2B5EF4-FFF2-40B4-BE49-F238E27FC236}">
                <a16:creationId xmlns:a16="http://schemas.microsoft.com/office/drawing/2014/main" id="{A09DCA41-F6D0-4E35-B89B-69926D33BFC5}"/>
              </a:ext>
            </a:extLst>
          </p:cNvPr>
          <p:cNvSpPr>
            <a:spLocks xmlns:a="http://schemas.openxmlformats.org/drawingml/2006/main" noGrp="1"/>
          </p:cNvSpPr>
          <p:nvPr/>
        </p:nvSpPr>
        <p:spPr>
          <a:xfrm xmlns:a="http://schemas.openxmlformats.org/drawingml/2006/main">
            <a:off x="10991850" y="6305550"/>
            <a:ext cx="5143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52616B"/>
                </a:solidFill>
                <a:latin typeface="Arial"/>
                <a:ea typeface="Arial"/>
                <a:cs typeface="Arial"/>
              </a:defRPr>
            </a:pPr>
            <a:r>
              <a:rPr sz="1125" b="0">
                <a:solidFill>
                  <a:srgbClr val="52616B"/>
                </a:solidFill>
                <a:latin typeface="Arial"/>
                <a:ea typeface="Arial"/>
                <a:cs typeface="Arial"/>
              </a:rPr>
              <a:t>12</a:t>
            </a:r>
          </a:p>
        </p:txBody>
      </p:sp>
      <p:sp>
        <p:nvSpPr>
          <p:cNvPr id="3" name="confusion-normal-title">
            <a:extLst xmlns:a="http://schemas.openxmlformats.org/drawingml/2006/main">
              <a:ext uri="{FF2B5EF4-FFF2-40B4-BE49-F238E27FC236}">
                <a16:creationId xmlns:a16="http://schemas.microsoft.com/office/drawing/2014/main" id="{E5DD9CCB-A304-471A-BE91-7423F24B5B0C}"/>
              </a:ext>
            </a:extLst>
          </p:cNvPr>
          <p:cNvSpPr>
            <a:spLocks xmlns:a="http://schemas.openxmlformats.org/drawingml/2006/main" noGrp="1"/>
          </p:cNvSpPr>
          <p:nvPr/>
        </p:nvSpPr>
        <p:spPr>
          <a:xfrm xmlns:a="http://schemas.openxmlformats.org/drawingml/2006/main">
            <a:off x="733425" y="1600200"/>
            <a:ext cx="10191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87F86"/>
                </a:solidFill>
                <a:latin typeface="Arial"/>
                <a:ea typeface="Arial"/>
                <a:cs typeface="Arial"/>
              </a:defRPr>
            </a:pPr>
            <a:r>
              <a:rPr sz="2325" b="1">
                <a:solidFill>
                  <a:srgbClr val="087F86"/>
                </a:solidFill>
                <a:latin typeface="Arial"/>
                <a:ea typeface="Arial"/>
                <a:cs typeface="Arial"/>
              </a:rPr>
              <a:t>Очекувано RS256</a:t>
            </a:r>
          </a:p>
        </p:txBody>
      </p:sp>
      <p:sp>
        <p:nvSpPr>
          <p:cNvPr id="4" name="confusion-normal-desc">
            <a:extLst xmlns:a="http://schemas.openxmlformats.org/drawingml/2006/main">
              <a:ext uri="{FF2B5EF4-FFF2-40B4-BE49-F238E27FC236}">
                <a16:creationId xmlns:a16="http://schemas.microsoft.com/office/drawing/2014/main" id="{3029C016-1438-44AB-9DBB-9FA73E18ED8C}"/>
              </a:ext>
            </a:extLst>
          </p:cNvPr>
          <p:cNvSpPr>
            <a:spLocks xmlns:a="http://schemas.openxmlformats.org/drawingml/2006/main" noGrp="1"/>
          </p:cNvSpPr>
          <p:nvPr/>
        </p:nvSpPr>
        <p:spPr>
          <a:xfrm xmlns:a="http://schemas.openxmlformats.org/drawingml/2006/main">
            <a:off x="733425" y="2066925"/>
            <a:ext cx="10382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B2630"/>
                </a:solidFill>
                <a:latin typeface="Arial"/>
                <a:ea typeface="Arial"/>
                <a:cs typeface="Arial"/>
              </a:defRPr>
            </a:pPr>
            <a:r>
              <a:rPr sz="1875" b="0">
                <a:solidFill>
                  <a:srgbClr val="1B2630"/>
                </a:solidFill>
                <a:latin typeface="Arial"/>
                <a:ea typeface="Arial"/>
                <a:cs typeface="Arial"/>
              </a:rPr>
              <a:t>Приватниот RSA клуч потпишува, јавниот клуч проверува.</a:t>
            </a:r>
          </a:p>
        </p:txBody>
      </p:sp>
      <p:sp>
        <p:nvSpPr>
          <p:cNvPr id="5" name="confusion-error-title">
            <a:extLst xmlns:a="http://schemas.openxmlformats.org/drawingml/2006/main">
              <a:ext uri="{FF2B5EF4-FFF2-40B4-BE49-F238E27FC236}">
                <a16:creationId xmlns:a16="http://schemas.microsoft.com/office/drawing/2014/main" id="{1F63C1EA-AD79-4CD1-AA9C-CEEEA538FBD0}"/>
              </a:ext>
            </a:extLst>
          </p:cNvPr>
          <p:cNvSpPr>
            <a:spLocks xmlns:a="http://schemas.openxmlformats.org/drawingml/2006/main" noGrp="1"/>
          </p:cNvSpPr>
          <p:nvPr/>
        </p:nvSpPr>
        <p:spPr>
          <a:xfrm xmlns:a="http://schemas.openxmlformats.org/drawingml/2006/main">
            <a:off x="733425" y="3067050"/>
            <a:ext cx="10191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B5403A"/>
                </a:solidFill>
                <a:latin typeface="Arial"/>
                <a:ea typeface="Arial"/>
                <a:cs typeface="Arial"/>
              </a:defRPr>
            </a:pPr>
            <a:r>
              <a:rPr sz="2325" b="1">
                <a:solidFill>
                  <a:srgbClr val="B5403A"/>
                </a:solidFill>
                <a:latin typeface="Arial"/>
                <a:ea typeface="Arial"/>
                <a:cs typeface="Arial"/>
              </a:rPr>
              <a:t>Погрешна проверка</a:t>
            </a:r>
          </a:p>
        </p:txBody>
      </p:sp>
      <p:sp>
        <p:nvSpPr>
          <p:cNvPr id="6" name="confusion-error-desc">
            <a:extLst xmlns:a="http://schemas.openxmlformats.org/drawingml/2006/main">
              <a:ext uri="{FF2B5EF4-FFF2-40B4-BE49-F238E27FC236}">
                <a16:creationId xmlns:a16="http://schemas.microsoft.com/office/drawing/2014/main" id="{FD95A4F0-4CC2-4C04-8648-4A918EC91E4E}"/>
              </a:ext>
            </a:extLst>
          </p:cNvPr>
          <p:cNvSpPr>
            <a:spLocks xmlns:a="http://schemas.openxmlformats.org/drawingml/2006/main" noGrp="1"/>
          </p:cNvSpPr>
          <p:nvPr/>
        </p:nvSpPr>
        <p:spPr>
          <a:xfrm xmlns:a="http://schemas.openxmlformats.org/drawingml/2006/main">
            <a:off x="733425" y="3533775"/>
            <a:ext cx="10382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B2630"/>
                </a:solidFill>
                <a:latin typeface="Arial"/>
                <a:ea typeface="Arial"/>
                <a:cs typeface="Arial"/>
              </a:defRPr>
            </a:pPr>
            <a:r>
              <a:rPr sz="1875" b="0">
                <a:solidFill>
                  <a:srgbClr val="1B2630"/>
                </a:solidFill>
                <a:latin typeface="Arial"/>
                <a:ea typeface="Arial"/>
                <a:cs typeface="Arial"/>
              </a:rPr>
              <a:t>Токенот бара HS256; серверот го користи јавниот клуч како HMAC тајна.</a:t>
            </a:r>
          </a:p>
        </p:txBody>
      </p:sp>
      <p:sp>
        <p:nvSpPr>
          <p:cNvPr id="7" name="confusion-outcome-title">
            <a:extLst xmlns:a="http://schemas.openxmlformats.org/drawingml/2006/main">
              <a:ext uri="{FF2B5EF4-FFF2-40B4-BE49-F238E27FC236}">
                <a16:creationId xmlns:a16="http://schemas.microsoft.com/office/drawing/2014/main" id="{1AC3ED00-7777-4F13-BFD4-4381F8321E37}"/>
              </a:ext>
            </a:extLst>
          </p:cNvPr>
          <p:cNvSpPr>
            <a:spLocks xmlns:a="http://schemas.openxmlformats.org/drawingml/2006/main" noGrp="1"/>
          </p:cNvSpPr>
          <p:nvPr/>
        </p:nvSpPr>
        <p:spPr>
          <a:xfrm xmlns:a="http://schemas.openxmlformats.org/drawingml/2006/main">
            <a:off x="733425" y="4638675"/>
            <a:ext cx="10191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42C3A"/>
                </a:solidFill>
                <a:latin typeface="Arial"/>
                <a:ea typeface="Arial"/>
                <a:cs typeface="Arial"/>
              </a:defRPr>
            </a:pPr>
            <a:r>
              <a:rPr sz="2325" b="1">
                <a:solidFill>
                  <a:srgbClr val="142C3A"/>
                </a:solidFill>
                <a:latin typeface="Arial"/>
                <a:ea typeface="Arial"/>
                <a:cs typeface="Arial"/>
              </a:rPr>
              <a:t>Резултат</a:t>
            </a:r>
          </a:p>
        </p:txBody>
      </p:sp>
      <p:sp>
        <p:nvSpPr>
          <p:cNvPr id="8" name="confusion-outcome-desc">
            <a:extLst xmlns:a="http://schemas.openxmlformats.org/drawingml/2006/main">
              <a:ext uri="{FF2B5EF4-FFF2-40B4-BE49-F238E27FC236}">
                <a16:creationId xmlns:a16="http://schemas.microsoft.com/office/drawing/2014/main" id="{252E9253-7D47-4140-9058-EEF606DC3593}"/>
              </a:ext>
            </a:extLst>
          </p:cNvPr>
          <p:cNvSpPr>
            <a:spLocks xmlns:a="http://schemas.openxmlformats.org/drawingml/2006/main" noGrp="1"/>
          </p:cNvSpPr>
          <p:nvPr/>
        </p:nvSpPr>
        <p:spPr>
          <a:xfrm xmlns:a="http://schemas.openxmlformats.org/drawingml/2006/main">
            <a:off x="733425" y="5105400"/>
            <a:ext cx="10382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B2630"/>
                </a:solidFill>
                <a:latin typeface="Arial"/>
                <a:ea typeface="Arial"/>
                <a:cs typeface="Arial"/>
              </a:defRPr>
            </a:pPr>
            <a:r>
              <a:rPr sz="1875" b="0">
                <a:solidFill>
                  <a:srgbClr val="1B2630"/>
                </a:solidFill>
                <a:latin typeface="Arial"/>
                <a:ea typeface="Arial"/>
                <a:cs typeface="Arial"/>
              </a:rPr>
              <a:t>Фалсификуваниот admin токен дава 200; фиксен RS256 дава 401.</a:t>
            </a:r>
          </a:p>
        </p:txBody>
      </p:sp>
    </p:spTree>
    <p:extLst>
      <p:ext uri="{BB962C8B-B14F-4D97-AF65-F5344CB8AC3E}">
        <p14:creationId xmlns:p14="http://schemas.microsoft.com/office/powerpoint/2010/main" val="2023671510"/>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title-13">
            <a:extLst xmlns:a="http://schemas.openxmlformats.org/drawingml/2006/main">
              <a:ext uri="{FF2B5EF4-FFF2-40B4-BE49-F238E27FC236}">
                <a16:creationId xmlns:a16="http://schemas.microsoft.com/office/drawing/2014/main" id="{837FA9E8-0714-4D8B-8832-0097BD640953}"/>
              </a:ext>
            </a:extLst>
          </p:cNvPr>
          <p:cNvSpPr>
            <a:spLocks xmlns:a="http://schemas.openxmlformats.org/drawingml/2006/main" noGrp="1"/>
          </p:cNvSpPr>
          <p:nvPr/>
        </p:nvSpPr>
        <p:spPr>
          <a:xfrm xmlns:a="http://schemas.openxmlformats.org/drawingml/2006/main">
            <a:off x="685800" y="438150"/>
            <a:ext cx="108204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42C3A"/>
                </a:solidFill>
                <a:latin typeface="Arial"/>
                <a:ea typeface="Arial"/>
                <a:cs typeface="Arial"/>
              </a:defRPr>
            </a:pPr>
            <a:r>
              <a:rPr sz="3150" b="1">
                <a:solidFill>
                  <a:srgbClr val="142C3A"/>
                </a:solidFill>
                <a:latin typeface="Arial"/>
                <a:ea typeface="Arial"/>
                <a:cs typeface="Arial"/>
              </a:rPr>
              <a:t>Што покажа JWT лабораторијата</a:t>
            </a:r>
          </a:p>
        </p:txBody>
      </p:sp>
      <p:sp>
        <p:nvSpPr>
          <p:cNvPr id="2" name="number-13">
            <a:extLst xmlns:a="http://schemas.openxmlformats.org/drawingml/2006/main">
              <a:ext uri="{FF2B5EF4-FFF2-40B4-BE49-F238E27FC236}">
                <a16:creationId xmlns:a16="http://schemas.microsoft.com/office/drawing/2014/main" id="{7D370440-589A-4920-9364-A6E8921C1CBB}"/>
              </a:ext>
            </a:extLst>
          </p:cNvPr>
          <p:cNvSpPr>
            <a:spLocks xmlns:a="http://schemas.openxmlformats.org/drawingml/2006/main" noGrp="1"/>
          </p:cNvSpPr>
          <p:nvPr/>
        </p:nvSpPr>
        <p:spPr>
          <a:xfrm xmlns:a="http://schemas.openxmlformats.org/drawingml/2006/main">
            <a:off x="10991850" y="6305550"/>
            <a:ext cx="5143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52616B"/>
                </a:solidFill>
                <a:latin typeface="Arial"/>
                <a:ea typeface="Arial"/>
                <a:cs typeface="Arial"/>
              </a:defRPr>
            </a:pPr>
            <a:r>
              <a:rPr sz="1125" b="0">
                <a:solidFill>
                  <a:srgbClr val="52616B"/>
                </a:solidFill>
                <a:latin typeface="Arial"/>
                <a:ea typeface="Arial"/>
                <a:cs typeface="Arial"/>
              </a:rPr>
              <a:t>13</a:t>
            </a:r>
          </a:p>
        </p:txBody>
      </p:sp>
      <p:sp>
        <p:nvSpPr>
          <p:cNvPr id="3" name="matrix-label-a">
            <a:extLst xmlns:a="http://schemas.openxmlformats.org/drawingml/2006/main">
              <a:ext uri="{FF2B5EF4-FFF2-40B4-BE49-F238E27FC236}">
                <a16:creationId xmlns:a16="http://schemas.microsoft.com/office/drawing/2014/main" id="{FC0D4C5C-2223-4490-BA66-833545A75C3C}"/>
              </a:ext>
            </a:extLst>
          </p:cNvPr>
          <p:cNvSpPr>
            <a:spLocks xmlns:a="http://schemas.openxmlformats.org/drawingml/2006/main" noGrp="1"/>
          </p:cNvSpPr>
          <p:nvPr/>
        </p:nvSpPr>
        <p:spPr>
          <a:xfrm xmlns:a="http://schemas.openxmlformats.org/drawingml/2006/main">
            <a:off x="733425" y="1638300"/>
            <a:ext cx="4095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52616B"/>
                </a:solidFill>
                <a:latin typeface="Arial"/>
                <a:ea typeface="Arial"/>
                <a:cs typeface="Arial"/>
              </a:defRPr>
            </a:pPr>
            <a:r>
              <a:rPr sz="1950" b="1">
                <a:solidFill>
                  <a:srgbClr val="52616B"/>
                </a:solidFill>
                <a:latin typeface="Arial"/>
                <a:ea typeface="Arial"/>
                <a:cs typeface="Arial"/>
              </a:rPr>
              <a:t>Сценарио</a:t>
            </a:r>
          </a:p>
        </p:txBody>
      </p:sp>
      <p:sp>
        <p:nvSpPr>
          <p:cNvPr id="4" name="matrix-label-b">
            <a:extLst xmlns:a="http://schemas.openxmlformats.org/drawingml/2006/main">
              <a:ext uri="{FF2B5EF4-FFF2-40B4-BE49-F238E27FC236}">
                <a16:creationId xmlns:a16="http://schemas.microsoft.com/office/drawing/2014/main" id="{9C5EFCAF-644C-4B65-9166-270495860ED1}"/>
              </a:ext>
            </a:extLst>
          </p:cNvPr>
          <p:cNvSpPr>
            <a:spLocks xmlns:a="http://schemas.openxmlformats.org/drawingml/2006/main" noGrp="1"/>
          </p:cNvSpPr>
          <p:nvPr/>
        </p:nvSpPr>
        <p:spPr>
          <a:xfrm xmlns:a="http://schemas.openxmlformats.org/drawingml/2006/main">
            <a:off x="6819900" y="1638300"/>
            <a:ext cx="19240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52616B"/>
                </a:solidFill>
                <a:latin typeface="Arial"/>
                <a:ea typeface="Arial"/>
                <a:cs typeface="Arial"/>
              </a:defRPr>
            </a:pPr>
            <a:r>
              <a:rPr sz="1950" b="1">
                <a:solidFill>
                  <a:srgbClr val="52616B"/>
                </a:solidFill>
                <a:latin typeface="Arial"/>
                <a:ea typeface="Arial"/>
                <a:cs typeface="Arial"/>
              </a:rPr>
              <a:t>Ранлива</a:t>
            </a:r>
          </a:p>
        </p:txBody>
      </p:sp>
      <p:sp>
        <p:nvSpPr>
          <p:cNvPr id="5" name="matrix-label-c">
            <a:extLst xmlns:a="http://schemas.openxmlformats.org/drawingml/2006/main">
              <a:ext uri="{FF2B5EF4-FFF2-40B4-BE49-F238E27FC236}">
                <a16:creationId xmlns:a16="http://schemas.microsoft.com/office/drawing/2014/main" id="{71B00EEA-F75D-4EBA-B03F-DB2F65F2C1A4}"/>
              </a:ext>
            </a:extLst>
          </p:cNvPr>
          <p:cNvSpPr>
            <a:spLocks xmlns:a="http://schemas.openxmlformats.org/drawingml/2006/main" noGrp="1"/>
          </p:cNvSpPr>
          <p:nvPr/>
        </p:nvSpPr>
        <p:spPr>
          <a:xfrm xmlns:a="http://schemas.openxmlformats.org/drawingml/2006/main">
            <a:off x="9267825" y="1638300"/>
            <a:ext cx="2133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52616B"/>
                </a:solidFill>
                <a:latin typeface="Arial"/>
                <a:ea typeface="Arial"/>
                <a:cs typeface="Arial"/>
              </a:defRPr>
            </a:pPr>
            <a:r>
              <a:rPr sz="1950" b="1">
                <a:solidFill>
                  <a:srgbClr val="52616B"/>
                </a:solidFill>
                <a:latin typeface="Arial"/>
                <a:ea typeface="Arial"/>
                <a:cs typeface="Arial"/>
              </a:rPr>
              <a:t>Заштитена</a:t>
            </a:r>
          </a:p>
        </p:txBody>
      </p:sp>
      <p:sp>
        <p:nvSpPr>
          <p:cNvPr id="6" name="matrix-name-0">
            <a:extLst xmlns:a="http://schemas.openxmlformats.org/drawingml/2006/main">
              <a:ext uri="{FF2B5EF4-FFF2-40B4-BE49-F238E27FC236}">
                <a16:creationId xmlns:a16="http://schemas.microsoft.com/office/drawing/2014/main" id="{A867134A-025F-4F5F-90C1-2AA140DDE302}"/>
              </a:ext>
            </a:extLst>
          </p:cNvPr>
          <p:cNvSpPr>
            <a:spLocks xmlns:a="http://schemas.openxmlformats.org/drawingml/2006/main" noGrp="1"/>
          </p:cNvSpPr>
          <p:nvPr/>
        </p:nvSpPr>
        <p:spPr>
          <a:xfrm xmlns:a="http://schemas.openxmlformats.org/drawingml/2006/main">
            <a:off x="733425" y="2667000"/>
            <a:ext cx="5334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B2630"/>
                </a:solidFill>
                <a:latin typeface="Arial"/>
                <a:ea typeface="Arial"/>
                <a:cs typeface="Arial"/>
              </a:defRPr>
            </a:pPr>
            <a:r>
              <a:rPr sz="2175" b="1">
                <a:solidFill>
                  <a:srgbClr val="1B2630"/>
                </a:solidFill>
                <a:latin typeface="Arial"/>
                <a:ea typeface="Arial"/>
                <a:cs typeface="Arial"/>
              </a:rPr>
              <a:t>alg: none</a:t>
            </a:r>
          </a:p>
        </p:txBody>
      </p:sp>
      <p:sp>
        <p:nvSpPr>
          <p:cNvPr id="7" name="matrix-bad-0">
            <a:extLst xmlns:a="http://schemas.openxmlformats.org/drawingml/2006/main">
              <a:ext uri="{FF2B5EF4-FFF2-40B4-BE49-F238E27FC236}">
                <a16:creationId xmlns:a16="http://schemas.microsoft.com/office/drawing/2014/main" id="{BBE91ACA-74A1-4180-B739-BE8B9E4DC8E6}"/>
              </a:ext>
            </a:extLst>
          </p:cNvPr>
          <p:cNvSpPr>
            <a:spLocks xmlns:a="http://schemas.openxmlformats.org/drawingml/2006/main" noGrp="1"/>
          </p:cNvSpPr>
          <p:nvPr/>
        </p:nvSpPr>
        <p:spPr>
          <a:xfrm xmlns:a="http://schemas.openxmlformats.org/drawingml/2006/main">
            <a:off x="6819900" y="2667000"/>
            <a:ext cx="1476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B5403A"/>
                </a:solidFill>
                <a:latin typeface="Arial"/>
                <a:ea typeface="Arial"/>
                <a:cs typeface="Arial"/>
              </a:defRPr>
            </a:pPr>
            <a:r>
              <a:rPr sz="2775" b="1">
                <a:solidFill>
                  <a:srgbClr val="B5403A"/>
                </a:solidFill>
                <a:latin typeface="Arial"/>
                <a:ea typeface="Arial"/>
                <a:cs typeface="Arial"/>
              </a:rPr>
              <a:t>200</a:t>
            </a:r>
          </a:p>
        </p:txBody>
      </p:sp>
      <p:sp>
        <p:nvSpPr>
          <p:cNvPr id="8" name="matrix-good-0">
            <a:extLst xmlns:a="http://schemas.openxmlformats.org/drawingml/2006/main">
              <a:ext uri="{FF2B5EF4-FFF2-40B4-BE49-F238E27FC236}">
                <a16:creationId xmlns:a16="http://schemas.microsoft.com/office/drawing/2014/main" id="{FCB3A14E-42E1-40B3-938B-612CF3B2FD55}"/>
              </a:ext>
            </a:extLst>
          </p:cNvPr>
          <p:cNvSpPr>
            <a:spLocks xmlns:a="http://schemas.openxmlformats.org/drawingml/2006/main" noGrp="1"/>
          </p:cNvSpPr>
          <p:nvPr/>
        </p:nvSpPr>
        <p:spPr>
          <a:xfrm xmlns:a="http://schemas.openxmlformats.org/drawingml/2006/main">
            <a:off x="9267825" y="2667000"/>
            <a:ext cx="1476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197157"/>
                </a:solidFill>
                <a:latin typeface="Arial"/>
                <a:ea typeface="Arial"/>
                <a:cs typeface="Arial"/>
              </a:defRPr>
            </a:pPr>
            <a:r>
              <a:rPr sz="2775" b="1">
                <a:solidFill>
                  <a:srgbClr val="197157"/>
                </a:solidFill>
                <a:latin typeface="Arial"/>
                <a:ea typeface="Arial"/>
                <a:cs typeface="Arial"/>
              </a:rPr>
              <a:t>401</a:t>
            </a:r>
          </a:p>
        </p:txBody>
      </p:sp>
      <p:sp>
        <p:nvSpPr>
          <p:cNvPr id="9" name="matrix-name-1">
            <a:extLst xmlns:a="http://schemas.openxmlformats.org/drawingml/2006/main">
              <a:ext uri="{FF2B5EF4-FFF2-40B4-BE49-F238E27FC236}">
                <a16:creationId xmlns:a16="http://schemas.microsoft.com/office/drawing/2014/main" id="{384ADCFB-7A81-40CF-9B4E-657929840BF7}"/>
              </a:ext>
            </a:extLst>
          </p:cNvPr>
          <p:cNvSpPr>
            <a:spLocks xmlns:a="http://schemas.openxmlformats.org/drawingml/2006/main" noGrp="1"/>
          </p:cNvSpPr>
          <p:nvPr/>
        </p:nvSpPr>
        <p:spPr>
          <a:xfrm xmlns:a="http://schemas.openxmlformats.org/drawingml/2006/main">
            <a:off x="733425" y="3648075"/>
            <a:ext cx="5334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B2630"/>
                </a:solidFill>
                <a:latin typeface="Arial"/>
                <a:ea typeface="Arial"/>
                <a:cs typeface="Arial"/>
              </a:defRPr>
            </a:pPr>
            <a:r>
              <a:rPr sz="2175" b="1">
                <a:solidFill>
                  <a:srgbClr val="1B2630"/>
                </a:solidFill>
                <a:latin typeface="Arial"/>
                <a:ea typeface="Arial"/>
                <a:cs typeface="Arial"/>
              </a:rPr>
              <a:t>Слаба HMAC тајна</a:t>
            </a:r>
          </a:p>
        </p:txBody>
      </p:sp>
      <p:sp>
        <p:nvSpPr>
          <p:cNvPr id="10" name="matrix-bad-1">
            <a:extLst xmlns:a="http://schemas.openxmlformats.org/drawingml/2006/main">
              <a:ext uri="{FF2B5EF4-FFF2-40B4-BE49-F238E27FC236}">
                <a16:creationId xmlns:a16="http://schemas.microsoft.com/office/drawing/2014/main" id="{1A3577AA-ACE6-4F0D-9193-3A6033CED1DD}"/>
              </a:ext>
            </a:extLst>
          </p:cNvPr>
          <p:cNvSpPr>
            <a:spLocks xmlns:a="http://schemas.openxmlformats.org/drawingml/2006/main" noGrp="1"/>
          </p:cNvSpPr>
          <p:nvPr/>
        </p:nvSpPr>
        <p:spPr>
          <a:xfrm xmlns:a="http://schemas.openxmlformats.org/drawingml/2006/main">
            <a:off x="6819900" y="3648075"/>
            <a:ext cx="1476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B5403A"/>
                </a:solidFill>
                <a:latin typeface="Arial"/>
                <a:ea typeface="Arial"/>
                <a:cs typeface="Arial"/>
              </a:defRPr>
            </a:pPr>
            <a:r>
              <a:rPr sz="2775" b="1">
                <a:solidFill>
                  <a:srgbClr val="B5403A"/>
                </a:solidFill>
                <a:latin typeface="Arial"/>
                <a:ea typeface="Arial"/>
                <a:cs typeface="Arial"/>
              </a:rPr>
              <a:t>200</a:t>
            </a:r>
          </a:p>
        </p:txBody>
      </p:sp>
      <p:sp>
        <p:nvSpPr>
          <p:cNvPr id="11" name="matrix-good-1">
            <a:extLst xmlns:a="http://schemas.openxmlformats.org/drawingml/2006/main">
              <a:ext uri="{FF2B5EF4-FFF2-40B4-BE49-F238E27FC236}">
                <a16:creationId xmlns:a16="http://schemas.microsoft.com/office/drawing/2014/main" id="{5D4EC951-0353-4958-BB1E-155D8ECFC88A}"/>
              </a:ext>
            </a:extLst>
          </p:cNvPr>
          <p:cNvSpPr>
            <a:spLocks xmlns:a="http://schemas.openxmlformats.org/drawingml/2006/main" noGrp="1"/>
          </p:cNvSpPr>
          <p:nvPr/>
        </p:nvSpPr>
        <p:spPr>
          <a:xfrm xmlns:a="http://schemas.openxmlformats.org/drawingml/2006/main">
            <a:off x="9267825" y="3648075"/>
            <a:ext cx="1476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197157"/>
                </a:solidFill>
                <a:latin typeface="Arial"/>
                <a:ea typeface="Arial"/>
                <a:cs typeface="Arial"/>
              </a:defRPr>
            </a:pPr>
            <a:r>
              <a:rPr sz="2775" b="1">
                <a:solidFill>
                  <a:srgbClr val="197157"/>
                </a:solidFill>
                <a:latin typeface="Arial"/>
                <a:ea typeface="Arial"/>
                <a:cs typeface="Arial"/>
              </a:rPr>
              <a:t>401</a:t>
            </a:r>
          </a:p>
        </p:txBody>
      </p:sp>
      <p:sp>
        <p:nvSpPr>
          <p:cNvPr id="12" name="matrix-name-2">
            <a:extLst xmlns:a="http://schemas.openxmlformats.org/drawingml/2006/main">
              <a:ext uri="{FF2B5EF4-FFF2-40B4-BE49-F238E27FC236}">
                <a16:creationId xmlns:a16="http://schemas.microsoft.com/office/drawing/2014/main" id="{C34172AF-7028-4721-A55E-EA829E2D0760}"/>
              </a:ext>
            </a:extLst>
          </p:cNvPr>
          <p:cNvSpPr>
            <a:spLocks xmlns:a="http://schemas.openxmlformats.org/drawingml/2006/main" noGrp="1"/>
          </p:cNvSpPr>
          <p:nvPr/>
        </p:nvSpPr>
        <p:spPr>
          <a:xfrm xmlns:a="http://schemas.openxmlformats.org/drawingml/2006/main">
            <a:off x="733425" y="4629150"/>
            <a:ext cx="5334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B2630"/>
                </a:solidFill>
                <a:latin typeface="Arial"/>
                <a:ea typeface="Arial"/>
                <a:cs typeface="Arial"/>
              </a:defRPr>
            </a:pPr>
            <a:r>
              <a:rPr sz="2175" b="1">
                <a:solidFill>
                  <a:srgbClr val="1B2630"/>
                </a:solidFill>
                <a:latin typeface="Arial"/>
                <a:ea typeface="Arial"/>
                <a:cs typeface="Arial"/>
              </a:rPr>
              <a:t>RS256 / HS256</a:t>
            </a:r>
          </a:p>
        </p:txBody>
      </p:sp>
      <p:sp>
        <p:nvSpPr>
          <p:cNvPr id="13" name="matrix-bad-2">
            <a:extLst xmlns:a="http://schemas.openxmlformats.org/drawingml/2006/main">
              <a:ext uri="{FF2B5EF4-FFF2-40B4-BE49-F238E27FC236}">
                <a16:creationId xmlns:a16="http://schemas.microsoft.com/office/drawing/2014/main" id="{29CE8B9F-AF75-4EE5-B9CF-FE48CC38ED55}"/>
              </a:ext>
            </a:extLst>
          </p:cNvPr>
          <p:cNvSpPr>
            <a:spLocks xmlns:a="http://schemas.openxmlformats.org/drawingml/2006/main" noGrp="1"/>
          </p:cNvSpPr>
          <p:nvPr/>
        </p:nvSpPr>
        <p:spPr>
          <a:xfrm xmlns:a="http://schemas.openxmlformats.org/drawingml/2006/main">
            <a:off x="6819900" y="4629150"/>
            <a:ext cx="1476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B5403A"/>
                </a:solidFill>
                <a:latin typeface="Arial"/>
                <a:ea typeface="Arial"/>
                <a:cs typeface="Arial"/>
              </a:defRPr>
            </a:pPr>
            <a:r>
              <a:rPr sz="2775" b="1">
                <a:solidFill>
                  <a:srgbClr val="B5403A"/>
                </a:solidFill>
                <a:latin typeface="Arial"/>
                <a:ea typeface="Arial"/>
                <a:cs typeface="Arial"/>
              </a:rPr>
              <a:t>200</a:t>
            </a:r>
          </a:p>
        </p:txBody>
      </p:sp>
      <p:sp>
        <p:nvSpPr>
          <p:cNvPr id="14" name="matrix-good-2">
            <a:extLst xmlns:a="http://schemas.openxmlformats.org/drawingml/2006/main">
              <a:ext uri="{FF2B5EF4-FFF2-40B4-BE49-F238E27FC236}">
                <a16:creationId xmlns:a16="http://schemas.microsoft.com/office/drawing/2014/main" id="{99BDBF3E-0685-4F2C-A2CA-0E2582D47B35}"/>
              </a:ext>
            </a:extLst>
          </p:cNvPr>
          <p:cNvSpPr>
            <a:spLocks xmlns:a="http://schemas.openxmlformats.org/drawingml/2006/main" noGrp="1"/>
          </p:cNvSpPr>
          <p:nvPr/>
        </p:nvSpPr>
        <p:spPr>
          <a:xfrm xmlns:a="http://schemas.openxmlformats.org/drawingml/2006/main">
            <a:off x="9267825" y="4629150"/>
            <a:ext cx="1476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197157"/>
                </a:solidFill>
                <a:latin typeface="Arial"/>
                <a:ea typeface="Arial"/>
                <a:cs typeface="Arial"/>
              </a:defRPr>
            </a:pPr>
            <a:r>
              <a:rPr sz="2775" b="1">
                <a:solidFill>
                  <a:srgbClr val="197157"/>
                </a:solidFill>
                <a:latin typeface="Arial"/>
                <a:ea typeface="Arial"/>
                <a:cs typeface="Arial"/>
              </a:rPr>
              <a:t>401</a:t>
            </a:r>
          </a:p>
        </p:txBody>
      </p:sp>
      <p:sp>
        <p:nvSpPr>
          <p:cNvPr id="15" name="matrix-note">
            <a:extLst xmlns:a="http://schemas.openxmlformats.org/drawingml/2006/main">
              <a:ext uri="{FF2B5EF4-FFF2-40B4-BE49-F238E27FC236}">
                <a16:creationId xmlns:a16="http://schemas.microsoft.com/office/drawing/2014/main" id="{67D7F99D-EE2F-419A-A6A3-9A53A6A30874}"/>
              </a:ext>
            </a:extLst>
          </p:cNvPr>
          <p:cNvSpPr>
            <a:spLocks xmlns:a="http://schemas.openxmlformats.org/drawingml/2006/main" noGrp="1"/>
          </p:cNvSpPr>
          <p:nvPr/>
        </p:nvSpPr>
        <p:spPr>
          <a:xfrm xmlns:a="http://schemas.openxmlformats.org/drawingml/2006/main">
            <a:off x="733425" y="5915025"/>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2616B"/>
                </a:solidFill>
                <a:latin typeface="Arial"/>
                <a:ea typeface="Arial"/>
                <a:cs typeface="Arial"/>
              </a:defRPr>
            </a:pPr>
            <a:r>
              <a:rPr sz="1650" b="0">
                <a:solidFill>
                  <a:srgbClr val="52616B"/>
                </a:solidFill>
                <a:latin typeface="Arial"/>
                <a:ea typeface="Arial"/>
                <a:cs typeface="Arial"/>
              </a:rPr>
              <a:t>Ист фалсификуван токен се пробува на двете варијанти.</a:t>
            </a:r>
          </a:p>
        </p:txBody>
      </p:sp>
    </p:spTree>
    <p:extLst>
      <p:ext uri="{BB962C8B-B14F-4D97-AF65-F5344CB8AC3E}">
        <p14:creationId xmlns:p14="http://schemas.microsoft.com/office/powerpoint/2010/main" val="536827329"/>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title-14">
            <a:extLst xmlns:a="http://schemas.openxmlformats.org/drawingml/2006/main">
              <a:ext uri="{FF2B5EF4-FFF2-40B4-BE49-F238E27FC236}">
                <a16:creationId xmlns:a16="http://schemas.microsoft.com/office/drawing/2014/main" id="{39AC66D9-0D8E-4085-93CD-64AA7E142175}"/>
              </a:ext>
            </a:extLst>
          </p:cNvPr>
          <p:cNvSpPr>
            <a:spLocks xmlns:a="http://schemas.openxmlformats.org/drawingml/2006/main" noGrp="1"/>
          </p:cNvSpPr>
          <p:nvPr/>
        </p:nvSpPr>
        <p:spPr>
          <a:xfrm xmlns:a="http://schemas.openxmlformats.org/drawingml/2006/main">
            <a:off x="685800" y="438150"/>
            <a:ext cx="108204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42C3A"/>
                </a:solidFill>
                <a:latin typeface="Arial"/>
                <a:ea typeface="Arial"/>
                <a:cs typeface="Arial"/>
              </a:defRPr>
            </a:pPr>
            <a:r>
              <a:rPr sz="3150" b="1">
                <a:solidFill>
                  <a:srgbClr val="142C3A"/>
                </a:solidFill>
                <a:latin typeface="Arial"/>
                <a:ea typeface="Arial"/>
                <a:cs typeface="Arial"/>
              </a:rPr>
              <a:t>JWT заштита во реална апликација</a:t>
            </a:r>
          </a:p>
        </p:txBody>
      </p:sp>
      <p:sp>
        <p:nvSpPr>
          <p:cNvPr id="2" name="number-14">
            <a:extLst xmlns:a="http://schemas.openxmlformats.org/drawingml/2006/main">
              <a:ext uri="{FF2B5EF4-FFF2-40B4-BE49-F238E27FC236}">
                <a16:creationId xmlns:a16="http://schemas.microsoft.com/office/drawing/2014/main" id="{41C01480-3E12-48C2-A921-1F5475F3CA42}"/>
              </a:ext>
            </a:extLst>
          </p:cNvPr>
          <p:cNvSpPr>
            <a:spLocks xmlns:a="http://schemas.openxmlformats.org/drawingml/2006/main" noGrp="1"/>
          </p:cNvSpPr>
          <p:nvPr/>
        </p:nvSpPr>
        <p:spPr>
          <a:xfrm xmlns:a="http://schemas.openxmlformats.org/drawingml/2006/main">
            <a:off x="10991850" y="6305550"/>
            <a:ext cx="5143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52616B"/>
                </a:solidFill>
                <a:latin typeface="Arial"/>
                <a:ea typeface="Arial"/>
                <a:cs typeface="Arial"/>
              </a:defRPr>
            </a:pPr>
            <a:r>
              <a:rPr sz="1125" b="0">
                <a:solidFill>
                  <a:srgbClr val="52616B"/>
                </a:solidFill>
                <a:latin typeface="Arial"/>
                <a:ea typeface="Arial"/>
                <a:cs typeface="Arial"/>
              </a:rPr>
              <a:t>14</a:t>
            </a:r>
          </a:p>
        </p:txBody>
      </p:sp>
      <p:sp>
        <p:nvSpPr>
          <p:cNvPr id="3" name="jwt-defense-n-0">
            <a:extLst xmlns:a="http://schemas.openxmlformats.org/drawingml/2006/main">
              <a:ext uri="{FF2B5EF4-FFF2-40B4-BE49-F238E27FC236}">
                <a16:creationId xmlns:a16="http://schemas.microsoft.com/office/drawing/2014/main" id="{2CB985CE-9D8E-4788-A7EE-73A81987D47B}"/>
              </a:ext>
            </a:extLst>
          </p:cNvPr>
          <p:cNvSpPr>
            <a:spLocks xmlns:a="http://schemas.openxmlformats.org/drawingml/2006/main" noGrp="1"/>
          </p:cNvSpPr>
          <p:nvPr/>
        </p:nvSpPr>
        <p:spPr>
          <a:xfrm xmlns:a="http://schemas.openxmlformats.org/drawingml/2006/main">
            <a:off x="742950" y="1543050"/>
            <a:ext cx="714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87F86"/>
                </a:solidFill>
                <a:latin typeface="Arial"/>
                <a:ea typeface="Arial"/>
                <a:cs typeface="Arial"/>
              </a:defRPr>
            </a:pPr>
            <a:r>
              <a:rPr sz="2325" b="1">
                <a:solidFill>
                  <a:srgbClr val="087F86"/>
                </a:solidFill>
                <a:latin typeface="Arial"/>
                <a:ea typeface="Arial"/>
                <a:cs typeface="Arial"/>
              </a:rPr>
              <a:t>01</a:t>
            </a:r>
          </a:p>
        </p:txBody>
      </p:sp>
      <p:sp>
        <p:nvSpPr>
          <p:cNvPr id="4" name="jwt-defense-text-0">
            <a:extLst xmlns:a="http://schemas.openxmlformats.org/drawingml/2006/main">
              <a:ext uri="{FF2B5EF4-FFF2-40B4-BE49-F238E27FC236}">
                <a16:creationId xmlns:a16="http://schemas.microsoft.com/office/drawing/2014/main" id="{71436219-9BCA-47C7-9260-844BD6F2A7D5}"/>
              </a:ext>
            </a:extLst>
          </p:cNvPr>
          <p:cNvSpPr>
            <a:spLocks xmlns:a="http://schemas.openxmlformats.org/drawingml/2006/main" noGrp="1"/>
          </p:cNvSpPr>
          <p:nvPr/>
        </p:nvSpPr>
        <p:spPr>
          <a:xfrm xmlns:a="http://schemas.openxmlformats.org/drawingml/2006/main">
            <a:off x="1619250" y="1562100"/>
            <a:ext cx="9620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B2630"/>
                </a:solidFill>
                <a:latin typeface="Arial"/>
                <a:ea typeface="Arial"/>
                <a:cs typeface="Arial"/>
              </a:defRPr>
            </a:pPr>
            <a:r>
              <a:rPr sz="1950" b="0">
                <a:solidFill>
                  <a:srgbClr val="1B2630"/>
                </a:solidFill>
                <a:latin typeface="Arial"/>
                <a:ea typeface="Arial"/>
                <a:cs typeface="Arial"/>
              </a:rPr>
              <a:t>Одржувана JWT библиотека и експлицитен алгоритам.</a:t>
            </a:r>
          </a:p>
        </p:txBody>
      </p:sp>
      <p:sp>
        <p:nvSpPr>
          <p:cNvPr id="5" name="jwt-defense-n-1">
            <a:extLst xmlns:a="http://schemas.openxmlformats.org/drawingml/2006/main">
              <a:ext uri="{FF2B5EF4-FFF2-40B4-BE49-F238E27FC236}">
                <a16:creationId xmlns:a16="http://schemas.microsoft.com/office/drawing/2014/main" id="{8A12F633-03D5-440A-8814-42B1020B1DA7}"/>
              </a:ext>
            </a:extLst>
          </p:cNvPr>
          <p:cNvSpPr>
            <a:spLocks xmlns:a="http://schemas.openxmlformats.org/drawingml/2006/main" noGrp="1"/>
          </p:cNvSpPr>
          <p:nvPr/>
        </p:nvSpPr>
        <p:spPr>
          <a:xfrm xmlns:a="http://schemas.openxmlformats.org/drawingml/2006/main">
            <a:off x="742950" y="2590800"/>
            <a:ext cx="714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87F86"/>
                </a:solidFill>
                <a:latin typeface="Arial"/>
                <a:ea typeface="Arial"/>
                <a:cs typeface="Arial"/>
              </a:defRPr>
            </a:pPr>
            <a:r>
              <a:rPr sz="2325" b="1">
                <a:solidFill>
                  <a:srgbClr val="087F86"/>
                </a:solidFill>
                <a:latin typeface="Arial"/>
                <a:ea typeface="Arial"/>
                <a:cs typeface="Arial"/>
              </a:rPr>
              <a:t>02</a:t>
            </a:r>
          </a:p>
        </p:txBody>
      </p:sp>
      <p:sp>
        <p:nvSpPr>
          <p:cNvPr id="6" name="jwt-defense-text-1">
            <a:extLst xmlns:a="http://schemas.openxmlformats.org/drawingml/2006/main">
              <a:ext uri="{FF2B5EF4-FFF2-40B4-BE49-F238E27FC236}">
                <a16:creationId xmlns:a16="http://schemas.microsoft.com/office/drawing/2014/main" id="{3049B4B7-BD86-4A55-893C-2E63C81CAA06}"/>
              </a:ext>
            </a:extLst>
          </p:cNvPr>
          <p:cNvSpPr>
            <a:spLocks xmlns:a="http://schemas.openxmlformats.org/drawingml/2006/main" noGrp="1"/>
          </p:cNvSpPr>
          <p:nvPr/>
        </p:nvSpPr>
        <p:spPr>
          <a:xfrm xmlns:a="http://schemas.openxmlformats.org/drawingml/2006/main">
            <a:off x="1619250" y="2609850"/>
            <a:ext cx="9620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B2630"/>
                </a:solidFill>
                <a:latin typeface="Arial"/>
                <a:ea typeface="Arial"/>
                <a:cs typeface="Arial"/>
              </a:defRPr>
            </a:pPr>
            <a:r>
              <a:rPr sz="1950" b="0">
                <a:solidFill>
                  <a:srgbClr val="1B2630"/>
                </a:solidFill>
                <a:latin typeface="Arial"/>
                <a:ea typeface="Arial"/>
                <a:cs typeface="Arial"/>
              </a:rPr>
              <a:t>Клуч со правилен тип за тој алгоритам.</a:t>
            </a:r>
          </a:p>
        </p:txBody>
      </p:sp>
      <p:sp>
        <p:nvSpPr>
          <p:cNvPr id="7" name="jwt-defense-n-2">
            <a:extLst xmlns:a="http://schemas.openxmlformats.org/drawingml/2006/main">
              <a:ext uri="{FF2B5EF4-FFF2-40B4-BE49-F238E27FC236}">
                <a16:creationId xmlns:a16="http://schemas.microsoft.com/office/drawing/2014/main" id="{BC327380-0E11-4C32-ACB3-7A01BFAE0282}"/>
              </a:ext>
            </a:extLst>
          </p:cNvPr>
          <p:cNvSpPr>
            <a:spLocks xmlns:a="http://schemas.openxmlformats.org/drawingml/2006/main" noGrp="1"/>
          </p:cNvSpPr>
          <p:nvPr/>
        </p:nvSpPr>
        <p:spPr>
          <a:xfrm xmlns:a="http://schemas.openxmlformats.org/drawingml/2006/main">
            <a:off x="742950" y="3638550"/>
            <a:ext cx="714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87F86"/>
                </a:solidFill>
                <a:latin typeface="Arial"/>
                <a:ea typeface="Arial"/>
                <a:cs typeface="Arial"/>
              </a:defRPr>
            </a:pPr>
            <a:r>
              <a:rPr sz="2325" b="1">
                <a:solidFill>
                  <a:srgbClr val="087F86"/>
                </a:solidFill>
                <a:latin typeface="Arial"/>
                <a:ea typeface="Arial"/>
                <a:cs typeface="Arial"/>
              </a:rPr>
              <a:t>03</a:t>
            </a:r>
          </a:p>
        </p:txBody>
      </p:sp>
      <p:sp>
        <p:nvSpPr>
          <p:cNvPr id="8" name="jwt-defense-text-2">
            <a:extLst xmlns:a="http://schemas.openxmlformats.org/drawingml/2006/main">
              <a:ext uri="{FF2B5EF4-FFF2-40B4-BE49-F238E27FC236}">
                <a16:creationId xmlns:a16="http://schemas.microsoft.com/office/drawing/2014/main" id="{D1A62153-7FB0-450E-B9EA-53B6BEFFF65D}"/>
              </a:ext>
            </a:extLst>
          </p:cNvPr>
          <p:cNvSpPr>
            <a:spLocks xmlns:a="http://schemas.openxmlformats.org/drawingml/2006/main" noGrp="1"/>
          </p:cNvSpPr>
          <p:nvPr/>
        </p:nvSpPr>
        <p:spPr>
          <a:xfrm xmlns:a="http://schemas.openxmlformats.org/drawingml/2006/main">
            <a:off x="1619250" y="3657600"/>
            <a:ext cx="9620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B2630"/>
                </a:solidFill>
                <a:latin typeface="Arial"/>
                <a:ea typeface="Arial"/>
                <a:cs typeface="Arial"/>
              </a:defRPr>
            </a:pPr>
            <a:r>
              <a:rPr sz="1950" b="0">
                <a:solidFill>
                  <a:srgbClr val="1B2630"/>
                </a:solidFill>
                <a:latin typeface="Arial"/>
                <a:ea typeface="Arial"/>
                <a:cs typeface="Arial"/>
              </a:rPr>
              <a:t>Случајна HMAC тајна, најмалку 32 бајти за HS256.</a:t>
            </a:r>
          </a:p>
        </p:txBody>
      </p:sp>
      <p:sp>
        <p:nvSpPr>
          <p:cNvPr id="9" name="jwt-defense-n-3">
            <a:extLst xmlns:a="http://schemas.openxmlformats.org/drawingml/2006/main">
              <a:ext uri="{FF2B5EF4-FFF2-40B4-BE49-F238E27FC236}">
                <a16:creationId xmlns:a16="http://schemas.microsoft.com/office/drawing/2014/main" id="{35FE19DA-E839-4FC7-A8D0-ECF4DA50C70B}"/>
              </a:ext>
            </a:extLst>
          </p:cNvPr>
          <p:cNvSpPr>
            <a:spLocks xmlns:a="http://schemas.openxmlformats.org/drawingml/2006/main" noGrp="1"/>
          </p:cNvSpPr>
          <p:nvPr/>
        </p:nvSpPr>
        <p:spPr>
          <a:xfrm xmlns:a="http://schemas.openxmlformats.org/drawingml/2006/main">
            <a:off x="742950" y="4686300"/>
            <a:ext cx="714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87F86"/>
                </a:solidFill>
                <a:latin typeface="Arial"/>
                <a:ea typeface="Arial"/>
                <a:cs typeface="Arial"/>
              </a:defRPr>
            </a:pPr>
            <a:r>
              <a:rPr sz="2325" b="1">
                <a:solidFill>
                  <a:srgbClr val="087F86"/>
                </a:solidFill>
                <a:latin typeface="Arial"/>
                <a:ea typeface="Arial"/>
                <a:cs typeface="Arial"/>
              </a:rPr>
              <a:t>04</a:t>
            </a:r>
          </a:p>
        </p:txBody>
      </p:sp>
      <p:sp>
        <p:nvSpPr>
          <p:cNvPr id="10" name="jwt-defense-text-3">
            <a:extLst xmlns:a="http://schemas.openxmlformats.org/drawingml/2006/main">
              <a:ext uri="{FF2B5EF4-FFF2-40B4-BE49-F238E27FC236}">
                <a16:creationId xmlns:a16="http://schemas.microsoft.com/office/drawing/2014/main" id="{CB5B246A-E7B8-44AA-8B9F-5682C6E2629C}"/>
              </a:ext>
            </a:extLst>
          </p:cNvPr>
          <p:cNvSpPr>
            <a:spLocks xmlns:a="http://schemas.openxmlformats.org/drawingml/2006/main" noGrp="1"/>
          </p:cNvSpPr>
          <p:nvPr/>
        </p:nvSpPr>
        <p:spPr>
          <a:xfrm xmlns:a="http://schemas.openxmlformats.org/drawingml/2006/main">
            <a:off x="1619250" y="4705350"/>
            <a:ext cx="9620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B2630"/>
                </a:solidFill>
                <a:latin typeface="Arial"/>
                <a:ea typeface="Arial"/>
                <a:cs typeface="Arial"/>
              </a:defRPr>
            </a:pPr>
            <a:r>
              <a:rPr sz="1950" b="0">
                <a:solidFill>
                  <a:srgbClr val="1B2630"/>
                </a:solidFill>
                <a:latin typeface="Arial"/>
                <a:ea typeface="Arial"/>
                <a:cs typeface="Arial"/>
              </a:rPr>
              <a:t>Проверка на релевантните iss, aud и exp claims.</a:t>
            </a:r>
          </a:p>
        </p:txBody>
      </p:sp>
    </p:spTree>
    <p:extLst>
      <p:ext uri="{BB962C8B-B14F-4D97-AF65-F5344CB8AC3E}">
        <p14:creationId xmlns:p14="http://schemas.microsoft.com/office/powerpoint/2010/main" val="165996764"/>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itle-15">
            <a:extLst xmlns:a="http://schemas.openxmlformats.org/drawingml/2006/main">
              <a:ext uri="{FF2B5EF4-FFF2-40B4-BE49-F238E27FC236}">
                <a16:creationId xmlns:a16="http://schemas.microsoft.com/office/drawing/2014/main" id="{34CE9FED-6C8D-4F4B-96F6-DBD60C324F40}"/>
              </a:ext>
            </a:extLst>
          </p:cNvPr>
          <p:cNvSpPr>
            <a:spLocks xmlns:a="http://schemas.openxmlformats.org/drawingml/2006/main" noGrp="1"/>
          </p:cNvSpPr>
          <p:nvPr/>
        </p:nvSpPr>
        <p:spPr>
          <a:xfrm xmlns:a="http://schemas.openxmlformats.org/drawingml/2006/main">
            <a:off x="685800" y="438150"/>
            <a:ext cx="108204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42C3A"/>
                </a:solidFill>
                <a:latin typeface="Arial"/>
                <a:ea typeface="Arial"/>
                <a:cs typeface="Arial"/>
              </a:defRPr>
            </a:pPr>
            <a:r>
              <a:rPr sz="3150" b="1">
                <a:solidFill>
                  <a:srgbClr val="142C3A"/>
                </a:solidFill>
                <a:latin typeface="Arial"/>
                <a:ea typeface="Arial"/>
                <a:cs typeface="Arial"/>
              </a:rPr>
              <a:t>Заклучок</a:t>
            </a:r>
          </a:p>
        </p:txBody>
      </p:sp>
      <p:sp>
        <p:nvSpPr>
          <p:cNvPr id="2" name="number-15">
            <a:extLst xmlns:a="http://schemas.openxmlformats.org/drawingml/2006/main">
              <a:ext uri="{FF2B5EF4-FFF2-40B4-BE49-F238E27FC236}">
                <a16:creationId xmlns:a16="http://schemas.microsoft.com/office/drawing/2014/main" id="{E9C74219-590A-48F1-8F93-1EE6A04A5BBE}"/>
              </a:ext>
            </a:extLst>
          </p:cNvPr>
          <p:cNvSpPr>
            <a:spLocks xmlns:a="http://schemas.openxmlformats.org/drawingml/2006/main" noGrp="1"/>
          </p:cNvSpPr>
          <p:nvPr/>
        </p:nvSpPr>
        <p:spPr>
          <a:xfrm xmlns:a="http://schemas.openxmlformats.org/drawingml/2006/main">
            <a:off x="10991850" y="6305550"/>
            <a:ext cx="5143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52616B"/>
                </a:solidFill>
                <a:latin typeface="Arial"/>
                <a:ea typeface="Arial"/>
                <a:cs typeface="Arial"/>
              </a:defRPr>
            </a:pPr>
            <a:r>
              <a:rPr sz="1125" b="0">
                <a:solidFill>
                  <a:srgbClr val="52616B"/>
                </a:solidFill>
                <a:latin typeface="Arial"/>
                <a:ea typeface="Arial"/>
                <a:cs typeface="Arial"/>
              </a:rPr>
              <a:t>15</a:t>
            </a:r>
          </a:p>
        </p:txBody>
      </p:sp>
      <p:sp>
        <p:nvSpPr>
          <p:cNvPr id="3" name="final-oauth-title">
            <a:extLst xmlns:a="http://schemas.openxmlformats.org/drawingml/2006/main">
              <a:ext uri="{FF2B5EF4-FFF2-40B4-BE49-F238E27FC236}">
                <a16:creationId xmlns:a16="http://schemas.microsoft.com/office/drawing/2014/main" id="{4EB9BC36-7B4E-4E35-A594-FA892F85EA8F}"/>
              </a:ext>
            </a:extLst>
          </p:cNvPr>
          <p:cNvSpPr>
            <a:spLocks xmlns:a="http://schemas.openxmlformats.org/drawingml/2006/main" noGrp="1"/>
          </p:cNvSpPr>
          <p:nvPr/>
        </p:nvSpPr>
        <p:spPr>
          <a:xfrm xmlns:a="http://schemas.openxmlformats.org/drawingml/2006/main">
            <a:off x="733425" y="1647825"/>
            <a:ext cx="10191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87F86"/>
                </a:solidFill>
                <a:latin typeface="Arial"/>
                <a:ea typeface="Arial"/>
                <a:cs typeface="Arial"/>
              </a:defRPr>
            </a:pPr>
            <a:r>
              <a:rPr sz="2325" b="1">
                <a:solidFill>
                  <a:srgbClr val="087F86"/>
                </a:solidFill>
                <a:latin typeface="Arial"/>
                <a:ea typeface="Arial"/>
                <a:cs typeface="Arial"/>
              </a:rPr>
              <a:t>OAuth</a:t>
            </a:r>
          </a:p>
        </p:txBody>
      </p:sp>
      <p:sp>
        <p:nvSpPr>
          <p:cNvPr id="4" name="final-oauth-desc">
            <a:extLst xmlns:a="http://schemas.openxmlformats.org/drawingml/2006/main">
              <a:ext uri="{FF2B5EF4-FFF2-40B4-BE49-F238E27FC236}">
                <a16:creationId xmlns:a16="http://schemas.microsoft.com/office/drawing/2014/main" id="{098BAEBC-CCE1-4FE8-85C7-B1EF66DD3E8F}"/>
              </a:ext>
            </a:extLst>
          </p:cNvPr>
          <p:cNvSpPr>
            <a:spLocks xmlns:a="http://schemas.openxmlformats.org/drawingml/2006/main" noGrp="1"/>
          </p:cNvSpPr>
          <p:nvPr/>
        </p:nvSpPr>
        <p:spPr>
          <a:xfrm xmlns:a="http://schemas.openxmlformats.org/drawingml/2006/main">
            <a:off x="733425" y="2114550"/>
            <a:ext cx="10382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B2630"/>
                </a:solidFill>
                <a:latin typeface="Arial"/>
                <a:ea typeface="Arial"/>
                <a:cs typeface="Arial"/>
              </a:defRPr>
            </a:pPr>
            <a:r>
              <a:rPr sz="1875" b="0">
                <a:solidFill>
                  <a:srgbClr val="1B2630"/>
                </a:solidFill>
                <a:latin typeface="Arial"/>
                <a:ea typeface="Arial"/>
                <a:cs typeface="Arial"/>
              </a:rPr>
              <a:t>Одговорот се врзува со browser трансакцијата што го започнала барањето.</a:t>
            </a:r>
          </a:p>
        </p:txBody>
      </p:sp>
      <p:sp>
        <p:nvSpPr>
          <p:cNvPr id="5" name="final-jwt-title">
            <a:extLst xmlns:a="http://schemas.openxmlformats.org/drawingml/2006/main">
              <a:ext uri="{FF2B5EF4-FFF2-40B4-BE49-F238E27FC236}">
                <a16:creationId xmlns:a16="http://schemas.microsoft.com/office/drawing/2014/main" id="{7CF5CAB9-BBE3-4059-8560-C49ACA241C40}"/>
              </a:ext>
            </a:extLst>
          </p:cNvPr>
          <p:cNvSpPr>
            <a:spLocks xmlns:a="http://schemas.openxmlformats.org/drawingml/2006/main" noGrp="1"/>
          </p:cNvSpPr>
          <p:nvPr/>
        </p:nvSpPr>
        <p:spPr>
          <a:xfrm xmlns:a="http://schemas.openxmlformats.org/drawingml/2006/main">
            <a:off x="733425" y="3305175"/>
            <a:ext cx="10191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87F86"/>
                </a:solidFill>
                <a:latin typeface="Arial"/>
                <a:ea typeface="Arial"/>
                <a:cs typeface="Arial"/>
              </a:defRPr>
            </a:pPr>
            <a:r>
              <a:rPr sz="2325" b="1">
                <a:solidFill>
                  <a:srgbClr val="087F86"/>
                </a:solidFill>
                <a:latin typeface="Arial"/>
                <a:ea typeface="Arial"/>
                <a:cs typeface="Arial"/>
              </a:rPr>
              <a:t>JWT</a:t>
            </a:r>
          </a:p>
        </p:txBody>
      </p:sp>
      <p:sp>
        <p:nvSpPr>
          <p:cNvPr id="6" name="final-jwt-desc">
            <a:extLst xmlns:a="http://schemas.openxmlformats.org/drawingml/2006/main">
              <a:ext uri="{FF2B5EF4-FFF2-40B4-BE49-F238E27FC236}">
                <a16:creationId xmlns:a16="http://schemas.microsoft.com/office/drawing/2014/main" id="{7EFC7B2F-902E-4647-8F14-74797CA5417C}"/>
              </a:ext>
            </a:extLst>
          </p:cNvPr>
          <p:cNvSpPr>
            <a:spLocks xmlns:a="http://schemas.openxmlformats.org/drawingml/2006/main" noGrp="1"/>
          </p:cNvSpPr>
          <p:nvPr/>
        </p:nvSpPr>
        <p:spPr>
          <a:xfrm xmlns:a="http://schemas.openxmlformats.org/drawingml/2006/main">
            <a:off x="733425" y="3771900"/>
            <a:ext cx="10382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B2630"/>
                </a:solidFill>
                <a:latin typeface="Arial"/>
                <a:ea typeface="Arial"/>
                <a:cs typeface="Arial"/>
              </a:defRPr>
            </a:pPr>
            <a:r>
              <a:rPr sz="1875" b="0">
                <a:solidFill>
                  <a:srgbClr val="1B2630"/>
                </a:solidFill>
                <a:latin typeface="Arial"/>
                <a:ea typeface="Arial"/>
                <a:cs typeface="Arial"/>
              </a:rPr>
              <a:t>Алгоритмот, клучот и потребните claims ги задава серверот.</a:t>
            </a:r>
          </a:p>
        </p:txBody>
      </p:sp>
      <p:sp>
        <p:nvSpPr>
          <p:cNvPr id="7" name="final-report">
            <a:extLst xmlns:a="http://schemas.openxmlformats.org/drawingml/2006/main">
              <a:ext uri="{FF2B5EF4-FFF2-40B4-BE49-F238E27FC236}">
                <a16:creationId xmlns:a16="http://schemas.microsoft.com/office/drawing/2014/main" id="{303A24DF-A87A-43B8-9BB5-B810E807ADC1}"/>
              </a:ext>
            </a:extLst>
          </p:cNvPr>
          <p:cNvSpPr>
            <a:spLocks xmlns:a="http://schemas.openxmlformats.org/drawingml/2006/main" noGrp="1"/>
          </p:cNvSpPr>
          <p:nvPr/>
        </p:nvSpPr>
        <p:spPr>
          <a:xfrm xmlns:a="http://schemas.openxmlformats.org/drawingml/2006/main">
            <a:off x="733425" y="5334000"/>
            <a:ext cx="103822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42C3A"/>
                </a:solidFill>
                <a:latin typeface="Arial"/>
                <a:ea typeface="Arial"/>
                <a:cs typeface="Arial"/>
              </a:defRPr>
            </a:pPr>
            <a:r>
              <a:rPr sz="2100" b="1">
                <a:solidFill>
                  <a:srgbClr val="142C3A"/>
                </a:solidFill>
                <a:latin typeface="Arial"/>
                <a:ea typeface="Arial"/>
                <a:cs typeface="Arial"/>
              </a:rPr>
              <a:t>Целосните чекори и кодот се во елаборатот.</a:t>
            </a:r>
          </a:p>
        </p:txBody>
      </p:sp>
    </p:spTree>
    <p:extLst>
      <p:ext uri="{BB962C8B-B14F-4D97-AF65-F5344CB8AC3E}">
        <p14:creationId xmlns:p14="http://schemas.microsoft.com/office/powerpoint/2010/main" val="23984772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2026-09-21T23:00:58.0420000Z</dcterms:created>
  <dcterms:modified xsi:type="dcterms:W3CDTF">2026-09-21T23:00:58.0430000Z</dcterms:modified>
</coreProperties>
</file>